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6654e0-3b85-c6b2-0b6b-59ee6bb56c38}">
          <p14:sldIdLst>
            <p14:sldId id="256"/>
            <p14:sldId id="257"/>
          </p14:sldIdLst>
        </p14:section>
        <p14:section name="Data" id="{94fcd704-1ba4-5d40-a20a-b16566f755b0}">
          <p14:sldIdLst>
            <p14:sldId id="258"/>
            <p14:sldId id="259"/>
            <p14:sldId id="260"/>
          </p14:sldIdLst>
        </p14:section>
        <p14:section name="Insights" id="{5a164981-3880-6c06-41f1-6c480097d753}">
          <p14:sldIdLst>
            <p14:sldId id="261"/>
            <p14:sldId id="262"/>
          </p14:sldIdLst>
        </p14:section>
        <p14:section name="Modelling" id="{47798a42-d284-34b0-a3d5-442fc623eaa8}">
          <p14:sldIdLst>
            <p14:sldId id="263"/>
            <p14:sldId id="264"/>
            <p14:sldId id="265"/>
          </p14:sldIdLst>
        </p14:section>
        <p14:section name="Recommendations" id="{d5eeb317-b6ef-5abb-d5f4-fcbdbcfd985a}">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emails</c:v>
                </c:pt>
              </c:strCache>
            </c:strRef>
          </c:tx>
          <c:spPr>
            <a:solidFill>
              <a:srgbClr val="9AA5B1"/>
            </a:solidFill>
            <a:effectLst/>
          </c:spPr>
          <c:invertIfNegative val="0"/>
          <c:dLbls>
            <c:numFmt formatCode="0.0&quot;%&quot;"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2F7F6F"/>
              </a:solidFill>
              <a:effectLst/>
            </c:spPr>
          </c:dPt>
          <c:dPt>
            <c:idx val="2"/>
            <c:invertIfNegative val="0"/>
            <c:bubble3D val="0"/>
            <c:spPr>
              <a:solidFill>
                <a:srgbClr val="E0A030"/>
              </a:solidFill>
              <a:effectLst/>
            </c:spPr>
          </c:dPt>
          <c:cat>
            <c:multiLvlStrRef>
              <c:f>Sheet1!$A$2:$A$4</c:f>
              <c:multiLvlStrCache>
                <c:ptCount val="3"/>
                <c:lvl>
                  <c:pt idx="0">
                    <c:v>Ignored</c:v>
                  </c:pt>
                  <c:pt idx="1">
                    <c:v>Read</c:v>
                  </c:pt>
                  <c:pt idx="2">
                    <c:v>Acknowledged</c:v>
                  </c:pt>
                </c:lvl>
              </c:multiLvlStrCache>
            </c:multiLvlStrRef>
          </c:cat>
          <c:val>
            <c:numRef>
              <c:f>Sheet1!$B$2:$B$4</c:f>
              <c:numCache>
                <c:formatCode>General</c:formatCode>
                <c:ptCount val="3"/>
                <c:pt idx="0">
                  <c:v>80.4</c:v>
                </c:pt>
                <c:pt idx="1">
                  <c:v>16.2</c:v>
                </c:pt>
                <c:pt idx="2">
                  <c:v>3.5</c:v>
                </c:pt>
              </c:numCache>
            </c:numRef>
          </c:val>
        </c:ser>
        <c:dLbls>
          <c:numFmt formatCode="0.0&quot;%&quot;"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A7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A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B6A72"/>
                </a:solidFill>
                <a:latin typeface="+mn-lt"/>
              </a:defRPr>
            </a:pPr>
            <a:r>
              <a:rPr sz="1300" b="0" i="0" u="none" strike="noStrike">
                <a:solidFill>
                  <a:srgbClr val="5B6A72"/>
                </a:solidFill>
                <a:latin typeface="+mn-lt"/>
              </a:rPr>
              <a:t>Share of rows missing</a:t>
            </a:r>
          </a:p>
        </c:rich>
      </c:tx>
      <c:layout/>
      <c:overlay val="0"/>
    </c:title>
    <c:autoTitleDeleted val="0"/>
    <c:plotArea>
      <c:layout/>
      <c:barChart>
        <c:barDir val="bar"/>
        <c:grouping val="clustered"/>
        <c:varyColors val="0"/>
        <c:ser>
          <c:idx val="0"/>
          <c:order val="0"/>
          <c:tx>
            <c:strRef>
              <c:f>Sheet1!$B$1</c:f>
              <c:strCache>
                <c:ptCount val="1"/>
                <c:pt idx="0">
                  <c:v>% missing</c:v>
                </c:pt>
              </c:strCache>
            </c:strRef>
          </c:tx>
          <c:spPr>
            <a:solidFill>
              <a:srgbClr val="2F7F6F"/>
            </a:solidFill>
            <a:effectLst/>
          </c:spPr>
          <c:invertIfNegative val="0"/>
          <c:dLbls>
            <c:numFmt formatCode="0.0&quot;%&quot;"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cat>
            <c:multiLvlStrRef>
              <c:f>Sheet1!$A$2:$A$5</c:f>
              <c:multiLvlStrCache>
                <c:ptCount val="4"/>
                <c:lvl>
                  <c:pt idx="0">
                    <c:v>Customer location</c:v>
                  </c:pt>
                  <c:pt idx="1">
                    <c:v>Past communications</c:v>
                  </c:pt>
                  <c:pt idx="2">
                    <c:v>Total links</c:v>
                  </c:pt>
                  <c:pt idx="3">
                    <c:v>Total images</c:v>
                  </c:pt>
                </c:lvl>
              </c:multiLvlStrCache>
            </c:multiLvlStrRef>
          </c:cat>
          <c:val>
            <c:numRef>
              <c:f>Sheet1!$B$2:$B$5</c:f>
              <c:numCache>
                <c:formatCode>General</c:formatCode>
                <c:ptCount val="4"/>
                <c:pt idx="0">
                  <c:v>17</c:v>
                </c:pt>
                <c:pt idx="1">
                  <c:v>10</c:v>
                </c:pt>
                <c:pt idx="2">
                  <c:v>3.2</c:v>
                </c:pt>
                <c:pt idx="3">
                  <c:v>2.5</c:v>
                </c:pt>
              </c:numCache>
            </c:numRef>
          </c:val>
        </c:ser>
        <c:dLbls>
          <c:numFmt formatCode="0.0&quot;%&quot;"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A7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A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Ignored</c:v>
                </c:pt>
              </c:strCache>
            </c:strRef>
          </c:tx>
          <c:spPr>
            <a:solidFill>
              <a:srgbClr val="9AA5B1"/>
            </a:solidFill>
            <a:effectLst/>
          </c:spPr>
          <c:invertIfNegative val="0"/>
          <c:dLbls>
            <c:numFmt formatCode="#,##0" sourceLinked="0"/>
            <c:txPr>
              <a:bodyPr/>
              <a:lstStyle/>
              <a:p>
                <a:pPr>
                  <a:defRPr b="0" i="0" strike="noStrike" sz="1200" u="none">
                    <a:solidFill>
                      <a:srgbClr val="18242B"/>
                    </a:solidFill>
                    <a:latin typeface="+mn-lt"/>
                  </a:defRPr>
                </a:pPr>
              </a:p>
            </c:txPr>
            <c:showLegendKey val="0"/>
            <c:showVal val="0"/>
            <c:showCatName val="0"/>
            <c:showSerName val="0"/>
            <c:showPercent val="0"/>
            <c:showBubbleSize val="0"/>
            <c:showLeaderLines val="0"/>
          </c:dLbls>
          <c:cat>
            <c:multiLvlStrRef>
              <c:f>Sheet1!$A$2:$A$4</c:f>
              <c:multiLvlStrCache>
                <c:ptCount val="3"/>
                <c:lvl>
                  <c:pt idx="0">
                    <c:v>Type 1</c:v>
                  </c:pt>
                  <c:pt idx="1">
                    <c:v>Type 2</c:v>
                  </c:pt>
                  <c:pt idx="2">
                    <c:v>Type 3</c:v>
                  </c:pt>
                </c:lvl>
              </c:multiLvlStrCache>
            </c:multiLvlStrRef>
          </c:cat>
          <c:val>
            <c:numRef>
              <c:f>Sheet1!$B$2:$B$4</c:f>
              <c:numCache>
                <c:formatCode>General</c:formatCode>
                <c:ptCount val="3"/>
                <c:pt idx="0">
                  <c:v>10.5</c:v>
                </c:pt>
                <c:pt idx="1">
                  <c:v>87.2</c:v>
                </c:pt>
                <c:pt idx="2">
                  <c:v>65.9</c:v>
                </c:pt>
              </c:numCache>
            </c:numRef>
          </c:val>
        </c:ser>
        <c:ser>
          <c:idx val="1"/>
          <c:order val="1"/>
          <c:tx>
            <c:strRef>
              <c:f>Sheet1!$C$1</c:f>
              <c:strCache>
                <c:ptCount val="1"/>
                <c:pt idx="0">
                  <c:v>Read</c:v>
                </c:pt>
              </c:strCache>
            </c:strRef>
          </c:tx>
          <c:spPr>
            <a:solidFill>
              <a:srgbClr val="2F7F6F"/>
            </a:solidFill>
            <a:effectLst/>
          </c:spPr>
          <c:invertIfNegative val="0"/>
          <c:dLbls>
            <c:numFmt formatCode="#,##0" sourceLinked="0"/>
            <c:txPr>
              <a:bodyPr/>
              <a:lstStyle/>
              <a:p>
                <a:pPr>
                  <a:defRPr b="0" i="0" strike="noStrike" sz="1200" u="none">
                    <a:solidFill>
                      <a:srgbClr val="18242B"/>
                    </a:solidFill>
                    <a:latin typeface="+mn-lt"/>
                  </a:defRPr>
                </a:pPr>
              </a:p>
            </c:txPr>
            <c:showLegendKey val="0"/>
            <c:showVal val="0"/>
            <c:showCatName val="0"/>
            <c:showSerName val="0"/>
            <c:showPercent val="0"/>
            <c:showBubbleSize val="0"/>
            <c:showLeaderLines val="0"/>
          </c:dLbls>
          <c:cat>
            <c:multiLvlStrRef>
              <c:f>Sheet1!$A$2:$A$4</c:f>
              <c:multiLvlStrCache>
                <c:ptCount val="3"/>
                <c:lvl>
                  <c:pt idx="0">
                    <c:v>Type 1</c:v>
                  </c:pt>
                  <c:pt idx="1">
                    <c:v>Type 2</c:v>
                  </c:pt>
                  <c:pt idx="2">
                    <c:v>Type 3</c:v>
                  </c:pt>
                </c:lvl>
              </c:multiLvlStrCache>
            </c:multiLvlStrRef>
          </c:cat>
          <c:val>
            <c:numRef>
              <c:f>Sheet1!$C$2:$C$4</c:f>
              <c:numCache>
                <c:formatCode>General</c:formatCode>
                <c:ptCount val="3"/>
                <c:pt idx="0">
                  <c:v>66</c:v>
                </c:pt>
                <c:pt idx="1">
                  <c:v>11.3</c:v>
                </c:pt>
                <c:pt idx="2">
                  <c:v>26.4</c:v>
                </c:pt>
              </c:numCache>
            </c:numRef>
          </c:val>
        </c:ser>
        <c:ser>
          <c:idx val="2"/>
          <c:order val="2"/>
          <c:tx>
            <c:strRef>
              <c:f>Sheet1!$D$1</c:f>
              <c:strCache>
                <c:ptCount val="1"/>
                <c:pt idx="0">
                  <c:v>Acknowledged</c:v>
                </c:pt>
              </c:strCache>
            </c:strRef>
          </c:tx>
          <c:spPr>
            <a:solidFill>
              <a:srgbClr val="E0A030"/>
            </a:solidFill>
            <a:effectLst/>
          </c:spPr>
          <c:invertIfNegative val="0"/>
          <c:dLbls>
            <c:numFmt formatCode="#,##0" sourceLinked="0"/>
            <c:txPr>
              <a:bodyPr/>
              <a:lstStyle/>
              <a:p>
                <a:pPr>
                  <a:defRPr b="0" i="0" strike="noStrike" sz="1200" u="none">
                    <a:solidFill>
                      <a:srgbClr val="18242B"/>
                    </a:solidFill>
                    <a:latin typeface="+mn-lt"/>
                  </a:defRPr>
                </a:pPr>
              </a:p>
            </c:txPr>
            <c:showLegendKey val="0"/>
            <c:showVal val="0"/>
            <c:showCatName val="0"/>
            <c:showSerName val="0"/>
            <c:showPercent val="0"/>
            <c:showBubbleSize val="0"/>
            <c:showLeaderLines val="0"/>
          </c:dLbls>
          <c:cat>
            <c:multiLvlStrRef>
              <c:f>Sheet1!$A$2:$A$4</c:f>
              <c:multiLvlStrCache>
                <c:ptCount val="3"/>
                <c:lvl>
                  <c:pt idx="0">
                    <c:v>Type 1</c:v>
                  </c:pt>
                  <c:pt idx="1">
                    <c:v>Type 2</c:v>
                  </c:pt>
                  <c:pt idx="2">
                    <c:v>Type 3</c:v>
                  </c:pt>
                </c:lvl>
              </c:multiLvlStrCache>
            </c:multiLvlStrRef>
          </c:cat>
          <c:val>
            <c:numRef>
              <c:f>Sheet1!$D$2:$D$4</c:f>
              <c:numCache>
                <c:formatCode>General</c:formatCode>
                <c:ptCount val="3"/>
                <c:pt idx="0">
                  <c:v>23.5</c:v>
                </c:pt>
                <c:pt idx="1">
                  <c:v>1.5</c:v>
                </c:pt>
                <c:pt idx="2">
                  <c:v>7.7</c:v>
                </c:pt>
              </c:numCache>
            </c:numRef>
          </c:val>
        </c:ser>
        <c:dLbls>
          <c:numFmt formatCode="#,##0" sourceLinked="0"/>
          <c:txPr>
            <a:bodyPr/>
            <a:lstStyle/>
            <a:p>
              <a:pPr>
                <a:defRPr b="0" i="0" strike="noStrike" sz="1200" u="none">
                  <a:solidFill>
                    <a:srgbClr val="18242B"/>
                  </a:solidFill>
                  <a:latin typeface="+mn-lt"/>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A7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E1DF"/>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A7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B6A72"/>
                </a:solidFill>
                <a:latin typeface="+mn-lt"/>
              </a:defRPr>
            </a:pPr>
            <a:r>
              <a:rPr sz="1300" b="0" i="0" u="none" strike="noStrike">
                <a:solidFill>
                  <a:srgbClr val="5B6A72"/>
                </a:solidFill>
                <a:latin typeface="+mn-lt"/>
              </a:rPr>
              <a:t>Macro F1 on the test set (higher is better)</a:t>
            </a:r>
          </a:p>
        </c:rich>
      </c:tx>
      <c:layout/>
      <c:overlay val="0"/>
    </c:title>
    <c:autoTitleDeleted val="0"/>
    <c:plotArea>
      <c:layout/>
      <c:barChart>
        <c:barDir val="bar"/>
        <c:grouping val="clustered"/>
        <c:varyColors val="0"/>
        <c:ser>
          <c:idx val="0"/>
          <c:order val="0"/>
          <c:tx>
            <c:strRef>
              <c:f>Sheet1!$B$1</c:f>
              <c:strCache>
                <c:ptCount val="1"/>
                <c:pt idx="0">
                  <c:v>Macro F1</c:v>
                </c:pt>
              </c:strCache>
            </c:strRef>
          </c:tx>
          <c:spPr>
            <a:solidFill>
              <a:srgbClr val="9AA5B1"/>
            </a:solidFill>
            <a:effectLst/>
          </c:spPr>
          <c:invertIfNegative val="0"/>
          <c:dLbls>
            <c:numFmt formatCode="0.000"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8CC7B8"/>
              </a:solidFill>
              <a:effectLst/>
            </c:spPr>
          </c:dPt>
          <c:dPt>
            <c:idx val="4"/>
            <c:invertIfNegative val="0"/>
            <c:bubble3D val="0"/>
            <c:spPr>
              <a:solidFill>
                <a:srgbClr val="2F7F6F"/>
              </a:solidFill>
              <a:effectLst/>
            </c:spPr>
          </c:dPt>
          <c:cat>
            <c:multiLvlStrRef>
              <c:f>Sheet1!$A$2:$A$6</c:f>
              <c:multiLvlStrCache>
                <c:ptCount val="5"/>
                <c:lvl>
                  <c:pt idx="0">
                    <c:v>Logistic Regression</c:v>
                  </c:pt>
                  <c:pt idx="1">
                    <c:v>Decision Tree</c:v>
                  </c:pt>
                  <c:pt idx="2">
                    <c:v>Gradient Boosting</c:v>
                  </c:pt>
                  <c:pt idx="3">
                    <c:v>Random Forest</c:v>
                  </c:pt>
                  <c:pt idx="4">
                    <c:v>Random Forest (tuned)</c:v>
                  </c:pt>
                </c:lvl>
              </c:multiLvlStrCache>
            </c:multiLvlStrRef>
          </c:cat>
          <c:val>
            <c:numRef>
              <c:f>Sheet1!$B$2:$B$6</c:f>
              <c:numCache>
                <c:formatCode>General</c:formatCode>
                <c:ptCount val="5"/>
                <c:pt idx="0">
                  <c:v>0.354</c:v>
                </c:pt>
                <c:pt idx="1">
                  <c:v>0.409</c:v>
                </c:pt>
                <c:pt idx="2">
                  <c:v>0.421</c:v>
                </c:pt>
                <c:pt idx="3">
                  <c:v>0.447</c:v>
                </c:pt>
                <c:pt idx="4">
                  <c:v>0.45</c:v>
                </c:pt>
              </c:numCache>
            </c:numRef>
          </c:val>
        </c:ser>
        <c:dLbls>
          <c:numFmt formatCode="0.000"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A72"/>
                </a:solidFill>
                <a:latin typeface="+mn-lt"/>
              </a:defRPr>
            </a:pPr>
            <a:endParaRPr lang="en-US"/>
          </a:p>
        </c:txPr>
        <c:crossAx val="2094734552"/>
        <c:crosses val="autoZero"/>
        <c:auto val="1"/>
        <c:lblAlgn val="ctr"/>
        <c:noMultiLvlLbl val="1"/>
      </c:catAx>
      <c:valAx>
        <c:axId val="2094734552"/>
        <c:scaling>
          <c:orientation val="minMax"/>
          <c:max val="0.5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A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B6A72"/>
                </a:solidFill>
                <a:latin typeface="+mn-lt"/>
              </a:defRPr>
            </a:pPr>
            <a:r>
              <a:rPr sz="1300" b="0" i="0" u="none" strike="noStrike">
                <a:solidFill>
                  <a:srgbClr val="5B6A72"/>
                </a:solidFill>
                <a:latin typeface="+mn-lt"/>
              </a:rPr>
              <a:t>Drop in macro F1 when each feature is shuffled</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2F7F6F"/>
            </a:solidFill>
            <a:effectLst/>
          </c:spPr>
          <c:invertIfNegative val="0"/>
          <c:dLbls>
            <c:numFmt formatCode="0.000"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cat>
            <c:multiLvlStrRef>
              <c:f>Sheet1!$A$2:$A$7</c:f>
              <c:multiLvlStrCache>
                <c:ptCount val="6"/>
                <c:lvl>
                  <c:pt idx="0">
                    <c:v>Campaign type</c:v>
                  </c:pt>
                  <c:pt idx="1">
                    <c:v>Past communications</c:v>
                  </c:pt>
                  <c:pt idx="2">
                    <c:v>Word count</c:v>
                  </c:pt>
                  <c:pt idx="3">
                    <c:v>Subject hotness</c:v>
                  </c:pt>
                  <c:pt idx="4">
                    <c:v>Total links</c:v>
                  </c:pt>
                  <c:pt idx="5">
                    <c:v>Total images</c:v>
                  </c:pt>
                </c:lvl>
              </c:multiLvlStrCache>
            </c:multiLvlStrRef>
          </c:cat>
          <c:val>
            <c:numRef>
              <c:f>Sheet1!$B$2:$B$7</c:f>
              <c:numCache>
                <c:formatCode>General</c:formatCode>
                <c:ptCount val="6"/>
                <c:pt idx="0">
                  <c:v>0.048</c:v>
                </c:pt>
                <c:pt idx="1">
                  <c:v>0.032</c:v>
                </c:pt>
                <c:pt idx="2">
                  <c:v>0.017</c:v>
                </c:pt>
                <c:pt idx="3">
                  <c:v>0.007</c:v>
                </c:pt>
                <c:pt idx="4">
                  <c:v>0.002</c:v>
                </c:pt>
                <c:pt idx="5">
                  <c:v>0.001</c:v>
                </c:pt>
              </c:numCache>
            </c:numRef>
          </c:val>
        </c:ser>
        <c:dLbls>
          <c:numFmt formatCode="0.000" sourceLinked="0"/>
          <c:txPr>
            <a:bodyPr/>
            <a:lstStyle/>
            <a:p>
              <a:pPr>
                <a:defRPr b="0" i="0" strike="noStrike" sz="1200" u="none">
                  <a:solidFill>
                    <a:srgbClr val="1824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A7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A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we built a model that predicts what a person will do with a marketing email, and we deployed it as a live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column is Email_Status with three classes. This is a multi-class classification problem. Business value: if we know which emails get ignored, InspireDirect can change them before they are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Email_ID is only an identifier, so we drop it. Many features are anonymised categories (e.g. campaign type 1, 2, 3), which limits how much we can interpret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challenge of the project. Macro F1 averages the F1 score of all three classes equally, so the model cannot hide behind the majority class. class_weight='balanced' makes mistakes on rare classes cost more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drop rows: that would throw away 27% of the data. Median imputation is robust to outliers. Because the imputer lives inside the scikit-learn Pipeline, it learns the medians from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strongest pattern in the data, and the model agrees: campaign type is its most important feature. Caution: type 1 has a small sample, so its numbers are less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Averages per outcome class. People who have received more emails from us engage more. Shorter emails do better. The subject hotness score moves the opposite way to what its name suggests; worth asking the business how this score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compared: Logistic Regression (baseline), Decision Tree, Random Forest, and Histogram Gradient Boosting. The test set is only used once, at the end, so the final score is an honest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beat the others before tuning. We tuned both Random Forest and Gradient Boosting with RandomizedSearchCV and kept the one with the best cross-validated macro F1 (0.458). Depth is capped to keep the saved model small enough to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diagonal: these are correct predictions. Most mistakes are Read vs Ignored. The model catches 4 in 10 reads and almost 4 in 10 acknowledgements, far better than chance, but there is room to improve with richer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shuffle one column and measure how much worse the model gets. It is model-agnostic and easy to explain. Features not shown had near-zero or slightly negative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findings into actions. Each recommendation links back to a chart we showed. These are correlations, so suggest testing them with A/B experiments before rolling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demo here: click a sample email and show the prediction. The same features.py file prepares data for both training and the web app, so predictions online match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evaluators value that. Close with what you would do with more time,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51760"/>
            <a:ext cx="7680960" cy="73152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InspireDirect · Email campaign effectiveness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InspireDirect · Email campaign effectiveness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Predicting Email Campaign Effectiveness</a:t>
            </a:r>
            <a:endParaRPr lang="en-US" sz="4000" dirty="0"/>
          </a:p>
        </p:txBody>
      </p:sp>
      <p:sp>
        <p:nvSpPr>
          <p:cNvPr id="3" name="Text 0"/>
          <p:cNvSpPr/>
          <p:nvPr>
            <p:ph idx="101" type="body" hasCustomPrompt="1"/>
          </p:nvPr>
        </p:nvSpPr>
        <p:spPr>
          <a:xfrm>
            <a:off x="548640" y="2651760"/>
            <a:ext cx="7680960" cy="731520"/>
          </a:xfrm>
          <a:prstGeom prst="rect">
            <a:avLst/>
          </a:prstGeom>
          <a:noFill/>
          <a:ln/>
        </p:spPr>
        <p:txBody>
          <a:bodyPr wrap="square" lIns="0" tIns="0" rIns="0" bIns="0" rtlCol="0" anchor="t"/>
          <a:lstStyle/>
          <a:p>
            <a:pPr indent="0" marL="0">
              <a:buNone/>
            </a:pPr>
            <a:r>
              <a:rPr lang="en-US" sz="1800" dirty="0">
                <a:solidFill>
                  <a:schemeClr val="accent5"/>
                </a:solidFill>
              </a:rPr>
              <a:t>Will a recipient ignore, read, or acknowledge an InspireDirect email?</a:t>
            </a:r>
            <a:endParaRPr lang="en-US" sz="1800" dirty="0"/>
          </a:p>
        </p:txBody>
      </p:sp>
      <p:sp>
        <p:nvSpPr>
          <p:cNvPr id="4" name="Ignored circle"/>
          <p:cNvSpPr/>
          <p:nvPr/>
        </p:nvSpPr>
        <p:spPr>
          <a:xfrm>
            <a:off x="548640" y="3703320"/>
            <a:ext cx="502920" cy="502920"/>
          </a:xfrm>
          <a:prstGeom prst="ellipse">
            <a:avLst/>
          </a:prstGeom>
          <a:solidFill>
            <a:schemeClr val="accent4"/>
          </a:solidFill>
          <a:ln/>
        </p:spPr>
      </p:sp>
      <p:pic>
        <p:nvPicPr>
          <p:cNvPr id="5" name="Ignored icon" descr="Ignored">    </p:cNvPr>
          <p:cNvPicPr>
            <a:picLocks noChangeAspect="1"/>
          </p:cNvPicPr>
          <p:nvPr/>
        </p:nvPicPr>
        <p:blipFill>
          <a:blip r:embed="rId1"/>
          <a:stretch>
            <a:fillRect/>
          </a:stretch>
        </p:blipFill>
        <p:spPr>
          <a:xfrm>
            <a:off x="684428" y="3839108"/>
            <a:ext cx="231343" cy="231343"/>
          </a:xfrm>
          <a:prstGeom prst="rect">
            <a:avLst/>
          </a:prstGeom>
        </p:spPr>
      </p:pic>
      <p:sp>
        <p:nvSpPr>
          <p:cNvPr id="6" name="Text 3"/>
          <p:cNvSpPr txBox="1"/>
          <p:nvPr/>
        </p:nvSpPr>
        <p:spPr>
          <a:xfrm>
            <a:off x="1143000" y="3703320"/>
            <a:ext cx="1234440" cy="502920"/>
          </a:xfrm>
          <a:prstGeom prst="rect">
            <a:avLst/>
          </a:prstGeom>
          <a:noFill/>
          <a:ln/>
        </p:spPr>
        <p:txBody>
          <a:bodyPr wrap="square" lIns="0" tIns="0" rIns="0" bIns="0" rtlCol="0" anchor="ctr"/>
          <a:lstStyle/>
          <a:p>
            <a:pPr indent="0" marL="0">
              <a:buNone/>
            </a:pPr>
            <a:r>
              <a:rPr lang="en-US" sz="1400" dirty="0">
                <a:solidFill>
                  <a:schemeClr val="bg1"/>
                </a:solidFill>
              </a:rPr>
              <a:t>Ignored</a:t>
            </a:r>
            <a:endParaRPr lang="en-US" sz="1400" dirty="0"/>
          </a:p>
        </p:txBody>
      </p:sp>
      <p:sp>
        <p:nvSpPr>
          <p:cNvPr id="7" name="Read circle"/>
          <p:cNvSpPr/>
          <p:nvPr/>
        </p:nvSpPr>
        <p:spPr>
          <a:xfrm>
            <a:off x="2468880" y="3703320"/>
            <a:ext cx="502920" cy="502920"/>
          </a:xfrm>
          <a:prstGeom prst="ellipse">
            <a:avLst/>
          </a:prstGeom>
          <a:solidFill>
            <a:schemeClr val="accent4"/>
          </a:solidFill>
          <a:ln/>
        </p:spPr>
      </p:sp>
      <p:pic>
        <p:nvPicPr>
          <p:cNvPr id="8" name="Read icon" descr="Read">    </p:cNvPr>
          <p:cNvPicPr>
            <a:picLocks noChangeAspect="1"/>
          </p:cNvPicPr>
          <p:nvPr/>
        </p:nvPicPr>
        <p:blipFill>
          <a:blip r:embed="rId2"/>
          <a:stretch>
            <a:fillRect/>
          </a:stretch>
        </p:blipFill>
        <p:spPr>
          <a:xfrm>
            <a:off x="2604668" y="3839108"/>
            <a:ext cx="231343" cy="231343"/>
          </a:xfrm>
          <a:prstGeom prst="rect">
            <a:avLst/>
          </a:prstGeom>
        </p:spPr>
      </p:pic>
      <p:sp>
        <p:nvSpPr>
          <p:cNvPr id="9" name="Text 5"/>
          <p:cNvSpPr txBox="1"/>
          <p:nvPr/>
        </p:nvSpPr>
        <p:spPr>
          <a:xfrm>
            <a:off x="3063240" y="3703320"/>
            <a:ext cx="1234440" cy="502920"/>
          </a:xfrm>
          <a:prstGeom prst="rect">
            <a:avLst/>
          </a:prstGeom>
          <a:noFill/>
          <a:ln/>
        </p:spPr>
        <p:txBody>
          <a:bodyPr wrap="square" lIns="0" tIns="0" rIns="0" bIns="0" rtlCol="0" anchor="ctr"/>
          <a:lstStyle/>
          <a:p>
            <a:pPr indent="0" marL="0">
              <a:buNone/>
            </a:pPr>
            <a:r>
              <a:rPr lang="en-US" sz="1400" dirty="0">
                <a:solidFill>
                  <a:schemeClr val="bg1"/>
                </a:solidFill>
              </a:rPr>
              <a:t>Read</a:t>
            </a:r>
            <a:endParaRPr lang="en-US" sz="1400" dirty="0"/>
          </a:p>
        </p:txBody>
      </p:sp>
      <p:sp>
        <p:nvSpPr>
          <p:cNvPr id="10" name="Acknowledged circle"/>
          <p:cNvSpPr/>
          <p:nvPr/>
        </p:nvSpPr>
        <p:spPr>
          <a:xfrm>
            <a:off x="4389120" y="3703320"/>
            <a:ext cx="502920" cy="502920"/>
          </a:xfrm>
          <a:prstGeom prst="ellipse">
            <a:avLst/>
          </a:prstGeom>
          <a:solidFill>
            <a:schemeClr val="accent4"/>
          </a:solidFill>
          <a:ln/>
        </p:spPr>
      </p:sp>
      <p:pic>
        <p:nvPicPr>
          <p:cNvPr id="11" name="Acknowledged icon" descr="Acknowledged">    </p:cNvPr>
          <p:cNvPicPr>
            <a:picLocks noChangeAspect="1"/>
          </p:cNvPicPr>
          <p:nvPr/>
        </p:nvPicPr>
        <p:blipFill>
          <a:blip r:embed="rId3"/>
          <a:stretch>
            <a:fillRect/>
          </a:stretch>
        </p:blipFill>
        <p:spPr>
          <a:xfrm>
            <a:off x="4524908" y="3839108"/>
            <a:ext cx="231343" cy="231343"/>
          </a:xfrm>
          <a:prstGeom prst="rect">
            <a:avLst/>
          </a:prstGeom>
        </p:spPr>
      </p:pic>
      <p:sp>
        <p:nvSpPr>
          <p:cNvPr id="12" name="Text 7"/>
          <p:cNvSpPr txBox="1"/>
          <p:nvPr/>
        </p:nvSpPr>
        <p:spPr>
          <a:xfrm>
            <a:off x="4983480" y="3703320"/>
            <a:ext cx="1234440" cy="502920"/>
          </a:xfrm>
          <a:prstGeom prst="rect">
            <a:avLst/>
          </a:prstGeom>
          <a:noFill/>
          <a:ln/>
        </p:spPr>
        <p:txBody>
          <a:bodyPr wrap="square" lIns="0" tIns="0" rIns="0" bIns="0" rtlCol="0" anchor="ctr"/>
          <a:lstStyle/>
          <a:p>
            <a:pPr indent="0" marL="0">
              <a:buNone/>
            </a:pPr>
            <a:r>
              <a:rPr lang="en-US" sz="1400" dirty="0">
                <a:solidFill>
                  <a:schemeClr val="bg1"/>
                </a:solidFill>
              </a:rPr>
              <a:t>Acknowledged</a:t>
            </a:r>
            <a:endParaRPr lang="en-US" sz="1400" dirty="0"/>
          </a:p>
        </p:txBody>
      </p:sp>
      <p:sp>
        <p:nvSpPr>
          <p:cNvPr id="13" name="Text 8"/>
          <p:cNvSpPr txBox="1"/>
          <p:nvPr/>
        </p:nvSpPr>
        <p:spPr>
          <a:xfrm>
            <a:off x="548640" y="457200"/>
            <a:ext cx="7315200" cy="320040"/>
          </a:xfrm>
          <a:prstGeom prst="rect">
            <a:avLst/>
          </a:prstGeom>
          <a:noFill/>
          <a:ln/>
        </p:spPr>
        <p:txBody>
          <a:bodyPr wrap="square" lIns="0" tIns="0" rIns="0" bIns="0" rtlCol="0" anchor="t"/>
          <a:lstStyle/>
          <a:p>
            <a:pPr indent="0" marL="0">
              <a:buNone/>
            </a:pPr>
            <a:r>
              <a:rPr lang="en-US" sz="1200" dirty="0">
                <a:solidFill>
                  <a:schemeClr val="accent3"/>
                </a:solidFill>
              </a:rPr>
              <a:t>Capstone project · Machine learning classification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What we are predicting</a:t>
            </a:r>
            <a:endParaRPr lang="en-US" sz="3200" dirty="0"/>
          </a:p>
        </p:txBody>
      </p:sp>
      <p:sp>
        <p:nvSpPr>
          <p:cNvPr id="3" name="Text 1"/>
          <p:cNvSpPr txBox="1"/>
          <p:nvPr/>
        </p:nvSpPr>
        <p:spPr>
          <a:xfrm>
            <a:off x="457200" y="1280160"/>
            <a:ext cx="3566160" cy="2194560"/>
          </a:xfrm>
          <a:prstGeom prst="rect">
            <a:avLst/>
          </a:prstGeom>
          <a:noFill/>
          <a:ln/>
        </p:spPr>
        <p:txBody>
          <a:bodyPr wrap="square" lIns="0" tIns="0" rIns="0" bIns="0" rtlCol="0" anchor="t"/>
          <a:lstStyle/>
          <a:p>
            <a:pPr indent="0" marL="0">
              <a:buNone/>
            </a:pPr>
            <a:r>
              <a:rPr lang="en-US" sz="1600" dirty="0">
                <a:solidFill>
                  <a:schemeClr val="tx1"/>
                </a:solidFill>
              </a:rPr>
              <a:t>InspireDirect runs Gmail-based email campaigns for small and medium-sized businesses.</a:t>
            </a:r>
            <a:endParaRPr lang="en-US" sz="1600" dirty="0"/>
          </a:p>
          <a:p>
            <a:pPr indent="0" marL="0">
              <a:buNone/>
            </a:pPr>
            <a:r>
              <a:rPr lang="en-US" sz="800" dirty="0">
                <a:solidFill>
                  <a:schemeClr val="tx1"/>
                </a:solidFill>
              </a:rPr>
              <a:t> </a:t>
            </a:r>
            <a:endParaRPr lang="en-US" sz="1600" dirty="0"/>
          </a:p>
          <a:p>
            <a:pPr indent="0" marL="0">
              <a:buNone/>
            </a:pPr>
            <a:r>
              <a:rPr lang="en-US" sz="1600" dirty="0">
                <a:solidFill>
                  <a:schemeClr val="tx1"/>
                </a:solidFill>
              </a:rPr>
              <a:t>Goal: predict each recipient's response before sending, so content, timing and targeting can be improved.</a:t>
            </a:r>
            <a:endParaRPr lang="en-US" sz="1600" dirty="0"/>
          </a:p>
        </p:txBody>
      </p:sp>
      <p:sp>
        <p:nvSpPr>
          <p:cNvPr id="4" name="0 · Ignored card"/>
          <p:cNvSpPr/>
          <p:nvPr/>
        </p:nvSpPr>
        <p:spPr>
          <a:xfrm>
            <a:off x="4480560" y="1280160"/>
            <a:ext cx="4206240" cy="868680"/>
          </a:xfrm>
          <a:prstGeom prst="roundRect">
            <a:avLst>
              <a:gd name="adj" fmla="val 8421"/>
            </a:avLst>
          </a:prstGeom>
          <a:solidFill>
            <a:schemeClr val="bg2"/>
          </a:solidFill>
          <a:ln/>
        </p:spPr>
      </p:sp>
      <p:sp>
        <p:nvSpPr>
          <p:cNvPr id="5" name="0 · Ignored circle"/>
          <p:cNvSpPr/>
          <p:nvPr/>
        </p:nvSpPr>
        <p:spPr>
          <a:xfrm>
            <a:off x="4663440" y="1435608"/>
            <a:ext cx="548640" cy="548640"/>
          </a:xfrm>
          <a:prstGeom prst="ellipse">
            <a:avLst/>
          </a:prstGeom>
          <a:solidFill>
            <a:schemeClr val="accent3"/>
          </a:solidFill>
          <a:ln/>
        </p:spPr>
      </p:sp>
      <p:pic>
        <p:nvPicPr>
          <p:cNvPr id="6" name="0 · Ignored icon" descr="0 · Ignored">    </p:cNvPr>
          <p:cNvPicPr>
            <a:picLocks noChangeAspect="1"/>
          </p:cNvPicPr>
          <p:nvPr/>
        </p:nvPicPr>
        <p:blipFill>
          <a:blip r:embed="rId1"/>
          <a:stretch>
            <a:fillRect/>
          </a:stretch>
        </p:blipFill>
        <p:spPr>
          <a:xfrm>
            <a:off x="4811573" y="1583741"/>
            <a:ext cx="252374" cy="252374"/>
          </a:xfrm>
          <a:prstGeom prst="rect">
            <a:avLst/>
          </a:prstGeom>
        </p:spPr>
      </p:pic>
      <p:sp>
        <p:nvSpPr>
          <p:cNvPr id="7" name="Text 4"/>
          <p:cNvSpPr txBox="1"/>
          <p:nvPr/>
        </p:nvSpPr>
        <p:spPr>
          <a:xfrm>
            <a:off x="5394960" y="1408176"/>
            <a:ext cx="3108960" cy="320040"/>
          </a:xfrm>
          <a:prstGeom prst="rect">
            <a:avLst/>
          </a:prstGeom>
          <a:noFill/>
          <a:ln/>
        </p:spPr>
        <p:txBody>
          <a:bodyPr wrap="square" lIns="0" tIns="0" rIns="0" bIns="0" rtlCol="0" anchor="t"/>
          <a:lstStyle/>
          <a:p>
            <a:pPr indent="0" marL="0">
              <a:buNone/>
            </a:pPr>
            <a:r>
              <a:rPr lang="en-US" sz="1600" b="1" dirty="0">
                <a:solidFill>
                  <a:schemeClr val="tx1"/>
                </a:solidFill>
              </a:rPr>
              <a:t>0 · Ignored</a:t>
            </a:r>
            <a:endParaRPr lang="en-US" sz="1600" dirty="0"/>
          </a:p>
        </p:txBody>
      </p:sp>
      <p:sp>
        <p:nvSpPr>
          <p:cNvPr id="8" name="Text 5"/>
          <p:cNvSpPr txBox="1"/>
          <p:nvPr/>
        </p:nvSpPr>
        <p:spPr>
          <a:xfrm>
            <a:off x="5394960" y="1737360"/>
            <a:ext cx="3108960" cy="274320"/>
          </a:xfrm>
          <a:prstGeom prst="rect">
            <a:avLst/>
          </a:prstGeom>
          <a:noFill/>
          <a:ln/>
        </p:spPr>
        <p:txBody>
          <a:bodyPr wrap="square" lIns="0" tIns="0" rIns="0" bIns="0" rtlCol="0" anchor="t"/>
          <a:lstStyle/>
          <a:p>
            <a:pPr indent="0" marL="0">
              <a:buNone/>
            </a:pPr>
            <a:r>
              <a:rPr lang="en-US" sz="1400" dirty="0">
                <a:solidFill>
                  <a:schemeClr val="tx2"/>
                </a:solidFill>
              </a:rPr>
              <a:t>The email was never opened</a:t>
            </a:r>
            <a:endParaRPr lang="en-US" sz="1400" dirty="0"/>
          </a:p>
        </p:txBody>
      </p:sp>
      <p:sp>
        <p:nvSpPr>
          <p:cNvPr id="9" name="1 · Read card"/>
          <p:cNvSpPr/>
          <p:nvPr/>
        </p:nvSpPr>
        <p:spPr>
          <a:xfrm>
            <a:off x="4480560" y="2331720"/>
            <a:ext cx="4206240" cy="868680"/>
          </a:xfrm>
          <a:prstGeom prst="roundRect">
            <a:avLst>
              <a:gd name="adj" fmla="val 8421"/>
            </a:avLst>
          </a:prstGeom>
          <a:solidFill>
            <a:schemeClr val="bg2"/>
          </a:solidFill>
          <a:ln/>
        </p:spPr>
      </p:sp>
      <p:sp>
        <p:nvSpPr>
          <p:cNvPr id="10" name="1 · Read circle"/>
          <p:cNvSpPr/>
          <p:nvPr/>
        </p:nvSpPr>
        <p:spPr>
          <a:xfrm>
            <a:off x="4663440" y="2487168"/>
            <a:ext cx="548640" cy="548640"/>
          </a:xfrm>
          <a:prstGeom prst="ellipse">
            <a:avLst/>
          </a:prstGeom>
          <a:solidFill>
            <a:schemeClr val="accent1"/>
          </a:solidFill>
          <a:ln/>
        </p:spPr>
      </p:sp>
      <p:pic>
        <p:nvPicPr>
          <p:cNvPr id="11" name="1 · Read icon" descr="1 · Read">    </p:cNvPr>
          <p:cNvPicPr>
            <a:picLocks noChangeAspect="1"/>
          </p:cNvPicPr>
          <p:nvPr/>
        </p:nvPicPr>
        <p:blipFill>
          <a:blip r:embed="rId2"/>
          <a:stretch>
            <a:fillRect/>
          </a:stretch>
        </p:blipFill>
        <p:spPr>
          <a:xfrm>
            <a:off x="4811573" y="2635301"/>
            <a:ext cx="252374" cy="252374"/>
          </a:xfrm>
          <a:prstGeom prst="rect">
            <a:avLst/>
          </a:prstGeom>
        </p:spPr>
      </p:pic>
      <p:sp>
        <p:nvSpPr>
          <p:cNvPr id="12" name="Text 8"/>
          <p:cNvSpPr txBox="1"/>
          <p:nvPr/>
        </p:nvSpPr>
        <p:spPr>
          <a:xfrm>
            <a:off x="5394960" y="2459736"/>
            <a:ext cx="3108960" cy="320040"/>
          </a:xfrm>
          <a:prstGeom prst="rect">
            <a:avLst/>
          </a:prstGeom>
          <a:noFill/>
          <a:ln/>
        </p:spPr>
        <p:txBody>
          <a:bodyPr wrap="square" lIns="0" tIns="0" rIns="0" bIns="0" rtlCol="0" anchor="t"/>
          <a:lstStyle/>
          <a:p>
            <a:pPr indent="0" marL="0">
              <a:buNone/>
            </a:pPr>
            <a:r>
              <a:rPr lang="en-US" sz="1600" b="1" dirty="0">
                <a:solidFill>
                  <a:schemeClr val="tx1"/>
                </a:solidFill>
              </a:rPr>
              <a:t>1 · Read</a:t>
            </a:r>
            <a:endParaRPr lang="en-US" sz="1600" dirty="0"/>
          </a:p>
        </p:txBody>
      </p:sp>
      <p:sp>
        <p:nvSpPr>
          <p:cNvPr id="13" name="Text 9"/>
          <p:cNvSpPr txBox="1"/>
          <p:nvPr/>
        </p:nvSpPr>
        <p:spPr>
          <a:xfrm>
            <a:off x="5394960" y="2788920"/>
            <a:ext cx="3108960" cy="274320"/>
          </a:xfrm>
          <a:prstGeom prst="rect">
            <a:avLst/>
          </a:prstGeom>
          <a:noFill/>
          <a:ln/>
        </p:spPr>
        <p:txBody>
          <a:bodyPr wrap="square" lIns="0" tIns="0" rIns="0" bIns="0" rtlCol="0" anchor="t"/>
          <a:lstStyle/>
          <a:p>
            <a:pPr indent="0" marL="0">
              <a:buNone/>
            </a:pPr>
            <a:r>
              <a:rPr lang="en-US" sz="1400" dirty="0">
                <a:solidFill>
                  <a:schemeClr val="tx2"/>
                </a:solidFill>
              </a:rPr>
              <a:t>Opened, but no action taken</a:t>
            </a:r>
            <a:endParaRPr lang="en-US" sz="1400" dirty="0"/>
          </a:p>
        </p:txBody>
      </p:sp>
      <p:sp>
        <p:nvSpPr>
          <p:cNvPr id="14" name="2 · Acknowledged card"/>
          <p:cNvSpPr/>
          <p:nvPr/>
        </p:nvSpPr>
        <p:spPr>
          <a:xfrm>
            <a:off x="4480560" y="3383280"/>
            <a:ext cx="4206240" cy="868680"/>
          </a:xfrm>
          <a:prstGeom prst="roundRect">
            <a:avLst>
              <a:gd name="adj" fmla="val 8421"/>
            </a:avLst>
          </a:prstGeom>
          <a:solidFill>
            <a:schemeClr val="bg2"/>
          </a:solidFill>
          <a:ln/>
        </p:spPr>
      </p:sp>
      <p:sp>
        <p:nvSpPr>
          <p:cNvPr id="15" name="2 · Acknowledged circle"/>
          <p:cNvSpPr/>
          <p:nvPr/>
        </p:nvSpPr>
        <p:spPr>
          <a:xfrm>
            <a:off x="4663440" y="3538728"/>
            <a:ext cx="548640" cy="548640"/>
          </a:xfrm>
          <a:prstGeom prst="ellipse">
            <a:avLst/>
          </a:prstGeom>
          <a:solidFill>
            <a:schemeClr val="accent2"/>
          </a:solidFill>
          <a:ln/>
        </p:spPr>
      </p:sp>
      <p:pic>
        <p:nvPicPr>
          <p:cNvPr id="16" name="2 · Acknowledged icon" descr="2 · Acknowledged">    </p:cNvPr>
          <p:cNvPicPr>
            <a:picLocks noChangeAspect="1"/>
          </p:cNvPicPr>
          <p:nvPr/>
        </p:nvPicPr>
        <p:blipFill>
          <a:blip r:embed="rId3"/>
          <a:stretch>
            <a:fillRect/>
          </a:stretch>
        </p:blipFill>
        <p:spPr>
          <a:xfrm>
            <a:off x="4811573" y="3686861"/>
            <a:ext cx="252374" cy="252374"/>
          </a:xfrm>
          <a:prstGeom prst="rect">
            <a:avLst/>
          </a:prstGeom>
        </p:spPr>
      </p:pic>
      <p:sp>
        <p:nvSpPr>
          <p:cNvPr id="17" name="Text 12"/>
          <p:cNvSpPr txBox="1"/>
          <p:nvPr/>
        </p:nvSpPr>
        <p:spPr>
          <a:xfrm>
            <a:off x="5394960" y="3511296"/>
            <a:ext cx="3108960" cy="320040"/>
          </a:xfrm>
          <a:prstGeom prst="rect">
            <a:avLst/>
          </a:prstGeom>
          <a:noFill/>
          <a:ln/>
        </p:spPr>
        <p:txBody>
          <a:bodyPr wrap="square" lIns="0" tIns="0" rIns="0" bIns="0" rtlCol="0" anchor="t"/>
          <a:lstStyle/>
          <a:p>
            <a:pPr indent="0" marL="0">
              <a:buNone/>
            </a:pPr>
            <a:r>
              <a:rPr lang="en-US" sz="1600" b="1" dirty="0">
                <a:solidFill>
                  <a:schemeClr val="tx1"/>
                </a:solidFill>
              </a:rPr>
              <a:t>2 · Acknowledged</a:t>
            </a:r>
            <a:endParaRPr lang="en-US" sz="1600" dirty="0"/>
          </a:p>
        </p:txBody>
      </p:sp>
      <p:sp>
        <p:nvSpPr>
          <p:cNvPr id="18" name="Text 13"/>
          <p:cNvSpPr txBox="1"/>
          <p:nvPr/>
        </p:nvSpPr>
        <p:spPr>
          <a:xfrm>
            <a:off x="5394960" y="3840480"/>
            <a:ext cx="3108960" cy="274320"/>
          </a:xfrm>
          <a:prstGeom prst="rect">
            <a:avLst/>
          </a:prstGeom>
          <a:noFill/>
          <a:ln/>
        </p:spPr>
        <p:txBody>
          <a:bodyPr wrap="square" lIns="0" tIns="0" rIns="0" bIns="0" rtlCol="0" anchor="t"/>
          <a:lstStyle/>
          <a:p>
            <a:pPr indent="0" marL="0">
              <a:buNone/>
            </a:pPr>
            <a:r>
              <a:rPr lang="en-US" sz="1400" dirty="0">
                <a:solidFill>
                  <a:schemeClr val="tx2"/>
                </a:solidFill>
              </a:rPr>
              <a:t>Opened and acted 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The data at a glance</a:t>
            </a:r>
            <a:endParaRPr lang="en-US" sz="3200" dirty="0"/>
          </a:p>
        </p:txBody>
      </p:sp>
      <p:sp>
        <p:nvSpPr>
          <p:cNvPr id="3" name="Text 1"/>
          <p:cNvSpPr txBox="1"/>
          <p:nvPr/>
        </p:nvSpPr>
        <p:spPr>
          <a:xfrm>
            <a:off x="457200" y="1188720"/>
            <a:ext cx="19202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68,353</a:t>
            </a:r>
            <a:endParaRPr lang="en-US" sz="4000" dirty="0"/>
          </a:p>
        </p:txBody>
      </p:sp>
      <p:sp>
        <p:nvSpPr>
          <p:cNvPr id="4" name="Text 2"/>
          <p:cNvSpPr txBox="1"/>
          <p:nvPr/>
        </p:nvSpPr>
        <p:spPr>
          <a:xfrm>
            <a:off x="457200" y="1828800"/>
            <a:ext cx="1920240" cy="274320"/>
          </a:xfrm>
          <a:prstGeom prst="rect">
            <a:avLst/>
          </a:prstGeom>
          <a:noFill/>
          <a:ln/>
        </p:spPr>
        <p:txBody>
          <a:bodyPr wrap="square" lIns="0" tIns="0" rIns="0" bIns="0" rtlCol="0" anchor="t"/>
          <a:lstStyle/>
          <a:p>
            <a:pPr indent="0" marL="0">
              <a:buNone/>
            </a:pPr>
            <a:r>
              <a:rPr lang="en-US" sz="1400" dirty="0">
                <a:solidFill>
                  <a:schemeClr val="tx2"/>
                </a:solidFill>
              </a:rPr>
              <a:t>emails</a:t>
            </a:r>
            <a:endParaRPr lang="en-US" sz="1400" dirty="0"/>
          </a:p>
        </p:txBody>
      </p:sp>
      <p:sp>
        <p:nvSpPr>
          <p:cNvPr id="5" name="Text 3"/>
          <p:cNvSpPr txBox="1"/>
          <p:nvPr/>
        </p:nvSpPr>
        <p:spPr>
          <a:xfrm>
            <a:off x="2560320" y="1188720"/>
            <a:ext cx="19202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a:t>
            </a:r>
            <a:endParaRPr lang="en-US" sz="4000" dirty="0"/>
          </a:p>
        </p:txBody>
      </p:sp>
      <p:sp>
        <p:nvSpPr>
          <p:cNvPr id="6" name="Text 4"/>
          <p:cNvSpPr txBox="1"/>
          <p:nvPr/>
        </p:nvSpPr>
        <p:spPr>
          <a:xfrm>
            <a:off x="2560320" y="1828800"/>
            <a:ext cx="1920240" cy="274320"/>
          </a:xfrm>
          <a:prstGeom prst="rect">
            <a:avLst/>
          </a:prstGeom>
          <a:noFill/>
          <a:ln/>
        </p:spPr>
        <p:txBody>
          <a:bodyPr wrap="square" lIns="0" tIns="0" rIns="0" bIns="0" rtlCol="0" anchor="t"/>
          <a:lstStyle/>
          <a:p>
            <a:pPr indent="0" marL="0">
              <a:buNone/>
            </a:pPr>
            <a:r>
              <a:rPr lang="en-US" sz="1400" dirty="0">
                <a:solidFill>
                  <a:schemeClr val="tx2"/>
                </a:solidFill>
              </a:rPr>
              <a:t>input features</a:t>
            </a:r>
            <a:endParaRPr lang="en-US" sz="1400" dirty="0"/>
          </a:p>
        </p:txBody>
      </p:sp>
      <p:sp>
        <p:nvSpPr>
          <p:cNvPr id="7" name="Text 5"/>
          <p:cNvSpPr txBox="1"/>
          <p:nvPr/>
        </p:nvSpPr>
        <p:spPr>
          <a:xfrm>
            <a:off x="4663440" y="1188720"/>
            <a:ext cx="19202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8" name="Text 6"/>
          <p:cNvSpPr txBox="1"/>
          <p:nvPr/>
        </p:nvSpPr>
        <p:spPr>
          <a:xfrm>
            <a:off x="4663440" y="1828800"/>
            <a:ext cx="1920240" cy="274320"/>
          </a:xfrm>
          <a:prstGeom prst="rect">
            <a:avLst/>
          </a:prstGeom>
          <a:noFill/>
          <a:ln/>
        </p:spPr>
        <p:txBody>
          <a:bodyPr wrap="square" lIns="0" tIns="0" rIns="0" bIns="0" rtlCol="0" anchor="t"/>
          <a:lstStyle/>
          <a:p>
            <a:pPr indent="0" marL="0">
              <a:buNone/>
            </a:pPr>
            <a:r>
              <a:rPr lang="en-US" sz="1400" dirty="0">
                <a:solidFill>
                  <a:schemeClr val="tx2"/>
                </a:solidFill>
              </a:rPr>
              <a:t>outcome classes</a:t>
            </a:r>
            <a:endParaRPr lang="en-US" sz="1400" dirty="0"/>
          </a:p>
        </p:txBody>
      </p:sp>
      <p:sp>
        <p:nvSpPr>
          <p:cNvPr id="9" name="Text 7"/>
          <p:cNvSpPr txBox="1"/>
          <p:nvPr/>
        </p:nvSpPr>
        <p:spPr>
          <a:xfrm>
            <a:off x="6766560" y="1188720"/>
            <a:ext cx="19202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10" name="Text 8"/>
          <p:cNvSpPr txBox="1"/>
          <p:nvPr/>
        </p:nvSpPr>
        <p:spPr>
          <a:xfrm>
            <a:off x="6766560" y="1828800"/>
            <a:ext cx="1920240" cy="274320"/>
          </a:xfrm>
          <a:prstGeom prst="rect">
            <a:avLst/>
          </a:prstGeom>
          <a:noFill/>
          <a:ln/>
        </p:spPr>
        <p:txBody>
          <a:bodyPr wrap="square" lIns="0" tIns="0" rIns="0" bIns="0" rtlCol="0" anchor="t"/>
          <a:lstStyle/>
          <a:p>
            <a:pPr indent="0" marL="0">
              <a:buNone/>
            </a:pPr>
            <a:r>
              <a:rPr lang="en-US" sz="1400" dirty="0">
                <a:solidFill>
                  <a:schemeClr val="tx2"/>
                </a:solidFill>
              </a:rPr>
              <a:t>columns with gaps</a:t>
            </a:r>
            <a:endParaRPr lang="en-US" sz="1400" dirty="0"/>
          </a:p>
        </p:txBody>
      </p:sp>
      <p:sp>
        <p:nvSpPr>
          <p:cNvPr id="11" name="The email card"/>
          <p:cNvSpPr/>
          <p:nvPr/>
        </p:nvSpPr>
        <p:spPr>
          <a:xfrm>
            <a:off x="457200" y="2514600"/>
            <a:ext cx="2606040" cy="1920240"/>
          </a:xfrm>
          <a:prstGeom prst="roundRect">
            <a:avLst>
              <a:gd name="adj" fmla="val 3810"/>
            </a:avLst>
          </a:prstGeom>
          <a:solidFill>
            <a:schemeClr val="bg2"/>
          </a:solidFill>
          <a:ln/>
        </p:spPr>
      </p:sp>
      <p:sp>
        <p:nvSpPr>
          <p:cNvPr id="12" name="The email circle"/>
          <p:cNvSpPr/>
          <p:nvPr/>
        </p:nvSpPr>
        <p:spPr>
          <a:xfrm>
            <a:off x="640080" y="2697480"/>
            <a:ext cx="502920" cy="502920"/>
          </a:xfrm>
          <a:prstGeom prst="ellipse">
            <a:avLst/>
          </a:prstGeom>
          <a:solidFill>
            <a:schemeClr val="accent1"/>
          </a:solidFill>
          <a:ln/>
        </p:spPr>
      </p:sp>
      <p:pic>
        <p:nvPicPr>
          <p:cNvPr id="13" name="The email icon" descr="The email">    </p:cNvPr>
          <p:cNvPicPr>
            <a:picLocks noChangeAspect="1"/>
          </p:cNvPicPr>
          <p:nvPr/>
        </p:nvPicPr>
        <p:blipFill>
          <a:blip r:embed="rId1"/>
          <a:stretch>
            <a:fillRect/>
          </a:stretch>
        </p:blipFill>
        <p:spPr>
          <a:xfrm>
            <a:off x="775868" y="2833268"/>
            <a:ext cx="231343" cy="231343"/>
          </a:xfrm>
          <a:prstGeom prst="rect">
            <a:avLst/>
          </a:prstGeom>
        </p:spPr>
      </p:pic>
      <p:sp>
        <p:nvSpPr>
          <p:cNvPr id="14" name="Text 11"/>
          <p:cNvSpPr txBox="1"/>
          <p:nvPr/>
        </p:nvSpPr>
        <p:spPr>
          <a:xfrm>
            <a:off x="640080" y="3291840"/>
            <a:ext cx="2240280" cy="320040"/>
          </a:xfrm>
          <a:prstGeom prst="rect">
            <a:avLst/>
          </a:prstGeom>
          <a:noFill/>
          <a:ln/>
        </p:spPr>
        <p:txBody>
          <a:bodyPr wrap="square" lIns="0" tIns="0" rIns="0" bIns="0" rtlCol="0" anchor="t"/>
          <a:lstStyle/>
          <a:p>
            <a:pPr indent="0" marL="0">
              <a:buNone/>
            </a:pPr>
            <a:r>
              <a:rPr lang="en-US" sz="1600" b="1" dirty="0">
                <a:solidFill>
                  <a:schemeClr val="tx1"/>
                </a:solidFill>
              </a:rPr>
              <a:t>The email</a:t>
            </a:r>
            <a:endParaRPr lang="en-US" sz="1600" dirty="0"/>
          </a:p>
        </p:txBody>
      </p:sp>
      <p:sp>
        <p:nvSpPr>
          <p:cNvPr id="15" name="Text 12"/>
          <p:cNvSpPr txBox="1"/>
          <p:nvPr/>
        </p:nvSpPr>
        <p:spPr>
          <a:xfrm>
            <a:off x="640080" y="3611880"/>
            <a:ext cx="2240280" cy="731520"/>
          </a:xfrm>
          <a:prstGeom prst="rect">
            <a:avLst/>
          </a:prstGeom>
          <a:noFill/>
          <a:ln/>
        </p:spPr>
        <p:txBody>
          <a:bodyPr wrap="square" lIns="0" tIns="0" rIns="0" bIns="0" rtlCol="0" anchor="t"/>
          <a:lstStyle/>
          <a:p>
            <a:pPr indent="0" marL="0">
              <a:buNone/>
            </a:pPr>
            <a:r>
              <a:rPr lang="en-US" sz="1400" dirty="0">
                <a:solidFill>
                  <a:schemeClr val="tx2"/>
                </a:solidFill>
              </a:rPr>
              <a:t>Email type, source type, campaign type, subject hotness score</a:t>
            </a:r>
            <a:endParaRPr lang="en-US" sz="1400" dirty="0"/>
          </a:p>
        </p:txBody>
      </p:sp>
      <p:sp>
        <p:nvSpPr>
          <p:cNvPr id="16" name="The content card"/>
          <p:cNvSpPr/>
          <p:nvPr/>
        </p:nvSpPr>
        <p:spPr>
          <a:xfrm>
            <a:off x="3246120" y="2514600"/>
            <a:ext cx="2606040" cy="1920240"/>
          </a:xfrm>
          <a:prstGeom prst="roundRect">
            <a:avLst>
              <a:gd name="adj" fmla="val 3810"/>
            </a:avLst>
          </a:prstGeom>
          <a:solidFill>
            <a:schemeClr val="bg2"/>
          </a:solidFill>
          <a:ln/>
        </p:spPr>
      </p:sp>
      <p:sp>
        <p:nvSpPr>
          <p:cNvPr id="17" name="The content circle"/>
          <p:cNvSpPr/>
          <p:nvPr/>
        </p:nvSpPr>
        <p:spPr>
          <a:xfrm>
            <a:off x="3429000" y="2697480"/>
            <a:ext cx="502920" cy="502920"/>
          </a:xfrm>
          <a:prstGeom prst="ellipse">
            <a:avLst/>
          </a:prstGeom>
          <a:solidFill>
            <a:schemeClr val="accent1"/>
          </a:solidFill>
          <a:ln/>
        </p:spPr>
      </p:sp>
      <p:pic>
        <p:nvPicPr>
          <p:cNvPr id="18" name="The content icon" descr="The content">    </p:cNvPr>
          <p:cNvPicPr>
            <a:picLocks noChangeAspect="1"/>
          </p:cNvPicPr>
          <p:nvPr/>
        </p:nvPicPr>
        <p:blipFill>
          <a:blip r:embed="rId2"/>
          <a:stretch>
            <a:fillRect/>
          </a:stretch>
        </p:blipFill>
        <p:spPr>
          <a:xfrm>
            <a:off x="3564788" y="2833268"/>
            <a:ext cx="231343" cy="231343"/>
          </a:xfrm>
          <a:prstGeom prst="rect">
            <a:avLst/>
          </a:prstGeom>
        </p:spPr>
      </p:pic>
      <p:sp>
        <p:nvSpPr>
          <p:cNvPr id="19" name="Text 15"/>
          <p:cNvSpPr txBox="1"/>
          <p:nvPr/>
        </p:nvSpPr>
        <p:spPr>
          <a:xfrm>
            <a:off x="3429000" y="3291840"/>
            <a:ext cx="2240280" cy="320040"/>
          </a:xfrm>
          <a:prstGeom prst="rect">
            <a:avLst/>
          </a:prstGeom>
          <a:noFill/>
          <a:ln/>
        </p:spPr>
        <p:txBody>
          <a:bodyPr wrap="square" lIns="0" tIns="0" rIns="0" bIns="0" rtlCol="0" anchor="t"/>
          <a:lstStyle/>
          <a:p>
            <a:pPr indent="0" marL="0">
              <a:buNone/>
            </a:pPr>
            <a:r>
              <a:rPr lang="en-US" sz="1600" b="1" dirty="0">
                <a:solidFill>
                  <a:schemeClr val="tx1"/>
                </a:solidFill>
              </a:rPr>
              <a:t>The content</a:t>
            </a:r>
            <a:endParaRPr lang="en-US" sz="1600" dirty="0"/>
          </a:p>
        </p:txBody>
      </p:sp>
      <p:sp>
        <p:nvSpPr>
          <p:cNvPr id="20" name="Text 16"/>
          <p:cNvSpPr txBox="1"/>
          <p:nvPr/>
        </p:nvSpPr>
        <p:spPr>
          <a:xfrm>
            <a:off x="3429000" y="3611880"/>
            <a:ext cx="2240280" cy="731520"/>
          </a:xfrm>
          <a:prstGeom prst="rect">
            <a:avLst/>
          </a:prstGeom>
          <a:noFill/>
          <a:ln/>
        </p:spPr>
        <p:txBody>
          <a:bodyPr wrap="square" lIns="0" tIns="0" rIns="0" bIns="0" rtlCol="0" anchor="t"/>
          <a:lstStyle/>
          <a:p>
            <a:pPr indent="0" marL="0">
              <a:buNone/>
            </a:pPr>
            <a:r>
              <a:rPr lang="en-US" sz="1400" dirty="0">
                <a:solidFill>
                  <a:schemeClr val="tx2"/>
                </a:solidFill>
              </a:rPr>
              <a:t>Word count, number of links, number of images</a:t>
            </a:r>
            <a:endParaRPr lang="en-US" sz="1400" dirty="0"/>
          </a:p>
        </p:txBody>
      </p:sp>
      <p:sp>
        <p:nvSpPr>
          <p:cNvPr id="21" name="The recipient card"/>
          <p:cNvSpPr/>
          <p:nvPr/>
        </p:nvSpPr>
        <p:spPr>
          <a:xfrm>
            <a:off x="6035040" y="2514600"/>
            <a:ext cx="2606040" cy="1920240"/>
          </a:xfrm>
          <a:prstGeom prst="roundRect">
            <a:avLst>
              <a:gd name="adj" fmla="val 3810"/>
            </a:avLst>
          </a:prstGeom>
          <a:solidFill>
            <a:schemeClr val="bg2"/>
          </a:solidFill>
          <a:ln/>
        </p:spPr>
      </p:sp>
      <p:sp>
        <p:nvSpPr>
          <p:cNvPr id="22" name="The recipient circle"/>
          <p:cNvSpPr/>
          <p:nvPr/>
        </p:nvSpPr>
        <p:spPr>
          <a:xfrm>
            <a:off x="6217920" y="2697480"/>
            <a:ext cx="502920" cy="502920"/>
          </a:xfrm>
          <a:prstGeom prst="ellipse">
            <a:avLst/>
          </a:prstGeom>
          <a:solidFill>
            <a:schemeClr val="accent1"/>
          </a:solidFill>
          <a:ln/>
        </p:spPr>
      </p:sp>
      <p:pic>
        <p:nvPicPr>
          <p:cNvPr id="23" name="The recipient icon" descr="The recipient">    </p:cNvPr>
          <p:cNvPicPr>
            <a:picLocks noChangeAspect="1"/>
          </p:cNvPicPr>
          <p:nvPr/>
        </p:nvPicPr>
        <p:blipFill>
          <a:blip r:embed="rId3"/>
          <a:stretch>
            <a:fillRect/>
          </a:stretch>
        </p:blipFill>
        <p:spPr>
          <a:xfrm>
            <a:off x="6353708" y="2833268"/>
            <a:ext cx="231343" cy="231343"/>
          </a:xfrm>
          <a:prstGeom prst="rect">
            <a:avLst/>
          </a:prstGeom>
        </p:spPr>
      </p:pic>
      <p:sp>
        <p:nvSpPr>
          <p:cNvPr id="24" name="Text 19"/>
          <p:cNvSpPr txBox="1"/>
          <p:nvPr/>
        </p:nvSpPr>
        <p:spPr>
          <a:xfrm>
            <a:off x="6217920" y="3291840"/>
            <a:ext cx="2240280" cy="320040"/>
          </a:xfrm>
          <a:prstGeom prst="rect">
            <a:avLst/>
          </a:prstGeom>
          <a:noFill/>
          <a:ln/>
        </p:spPr>
        <p:txBody>
          <a:bodyPr wrap="square" lIns="0" tIns="0" rIns="0" bIns="0" rtlCol="0" anchor="t"/>
          <a:lstStyle/>
          <a:p>
            <a:pPr indent="0" marL="0">
              <a:buNone/>
            </a:pPr>
            <a:r>
              <a:rPr lang="en-US" sz="1600" b="1" dirty="0">
                <a:solidFill>
                  <a:schemeClr val="tx1"/>
                </a:solidFill>
              </a:rPr>
              <a:t>The recipient</a:t>
            </a:r>
            <a:endParaRPr lang="en-US" sz="1600" dirty="0"/>
          </a:p>
        </p:txBody>
      </p:sp>
      <p:sp>
        <p:nvSpPr>
          <p:cNvPr id="25" name="Text 20"/>
          <p:cNvSpPr txBox="1"/>
          <p:nvPr/>
        </p:nvSpPr>
        <p:spPr>
          <a:xfrm>
            <a:off x="6217920" y="3611880"/>
            <a:ext cx="2240280" cy="731520"/>
          </a:xfrm>
          <a:prstGeom prst="rect">
            <a:avLst/>
          </a:prstGeom>
          <a:noFill/>
          <a:ln/>
        </p:spPr>
        <p:txBody>
          <a:bodyPr wrap="square" lIns="0" tIns="0" rIns="0" bIns="0" rtlCol="0" anchor="t"/>
          <a:lstStyle/>
          <a:p>
            <a:pPr indent="0" marL="0">
              <a:buNone/>
            </a:pPr>
            <a:r>
              <a:rPr lang="en-US" sz="1400" dirty="0">
                <a:solidFill>
                  <a:schemeClr val="tx2"/>
                </a:solidFill>
              </a:rPr>
              <a:t>Customer location, past communications, time sent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80% of emails are ignored</a:t>
            </a:r>
            <a:endParaRPr lang="en-US" sz="3200" dirty="0"/>
          </a:p>
        </p:txBody>
      </p:sp>
      <p:graphicFrame>
        <p:nvGraphicFramePr>
          <p:cNvPr id="3" name="Class distribution chart" descr=""/>
          <p:cNvGraphicFramePr/>
          <p:nvPr/>
        </p:nvGraphicFramePr>
        <p:xfrm>
          <a:off x="365760" y="1143000"/>
          <a:ext cx="4846320" cy="3429000"/>
        </p:xfrm>
        <a:graphic xmlns:a="http://schemas.openxmlformats.org/drawingml/2006/main">
          <a:graphicData uri="http://schemas.openxmlformats.org/drawingml/2006/chart">
            <c:chart xmlns:c="http://schemas.openxmlformats.org/drawingml/2006/chart" r:id="rId1"/>
          </a:graphicData>
        </a:graphic>
      </p:graphicFrame>
      <p:sp>
        <p:nvSpPr>
          <p:cNvPr id="4" name="Why it matters card"/>
          <p:cNvSpPr/>
          <p:nvPr/>
        </p:nvSpPr>
        <p:spPr>
          <a:xfrm>
            <a:off x="5577840" y="1280160"/>
            <a:ext cx="3108960" cy="3154680"/>
          </a:xfrm>
          <a:prstGeom prst="roundRect">
            <a:avLst>
              <a:gd name="adj" fmla="val 2353"/>
            </a:avLst>
          </a:prstGeom>
          <a:solidFill>
            <a:schemeClr val="bg2"/>
          </a:solidFill>
          <a:ln/>
        </p:spPr>
      </p:sp>
      <p:sp>
        <p:nvSpPr>
          <p:cNvPr id="5" name="Imbalance circle"/>
          <p:cNvSpPr/>
          <p:nvPr/>
        </p:nvSpPr>
        <p:spPr>
          <a:xfrm>
            <a:off x="5806440" y="1463040"/>
            <a:ext cx="502920" cy="502920"/>
          </a:xfrm>
          <a:prstGeom prst="ellipse">
            <a:avLst/>
          </a:prstGeom>
          <a:solidFill>
            <a:schemeClr val="accent2"/>
          </a:solidFill>
          <a:ln/>
        </p:spPr>
      </p:sp>
      <p:pic>
        <p:nvPicPr>
          <p:cNvPr id="6" name="Imbalance icon" descr="Imbalance">    </p:cNvPr>
          <p:cNvPicPr>
            <a:picLocks noChangeAspect="1"/>
          </p:cNvPicPr>
          <p:nvPr/>
        </p:nvPicPr>
        <p:blipFill>
          <a:blip r:embed="rId2"/>
          <a:stretch>
            <a:fillRect/>
          </a:stretch>
        </p:blipFill>
        <p:spPr>
          <a:xfrm>
            <a:off x="5942228" y="1598828"/>
            <a:ext cx="231343" cy="231343"/>
          </a:xfrm>
          <a:prstGeom prst="rect">
            <a:avLst/>
          </a:prstGeom>
        </p:spPr>
      </p:pic>
      <p:sp>
        <p:nvSpPr>
          <p:cNvPr id="7" name="Text 3"/>
          <p:cNvSpPr txBox="1"/>
          <p:nvPr/>
        </p:nvSpPr>
        <p:spPr>
          <a:xfrm>
            <a:off x="5806440" y="2103120"/>
            <a:ext cx="2697480" cy="320040"/>
          </a:xfrm>
          <a:prstGeom prst="rect">
            <a:avLst/>
          </a:prstGeom>
          <a:noFill/>
          <a:ln/>
        </p:spPr>
        <p:txBody>
          <a:bodyPr wrap="square" lIns="0" tIns="0" rIns="0" bIns="0" rtlCol="0" anchor="t"/>
          <a:lstStyle/>
          <a:p>
            <a:pPr indent="0" marL="0">
              <a:buNone/>
            </a:pPr>
            <a:r>
              <a:rPr lang="en-US" sz="1600" b="1" dirty="0">
                <a:solidFill>
                  <a:schemeClr val="tx1"/>
                </a:solidFill>
              </a:rPr>
              <a:t>Accuracy alone misleads</a:t>
            </a:r>
            <a:endParaRPr lang="en-US" sz="1600" dirty="0"/>
          </a:p>
        </p:txBody>
      </p:sp>
      <p:sp>
        <p:nvSpPr>
          <p:cNvPr id="8" name="Text 4"/>
          <p:cNvSpPr txBox="1"/>
          <p:nvPr/>
        </p:nvSpPr>
        <p:spPr>
          <a:xfrm>
            <a:off x="5806440" y="2468880"/>
            <a:ext cx="2697480" cy="1828800"/>
          </a:xfrm>
          <a:prstGeom prst="rect">
            <a:avLst/>
          </a:prstGeom>
          <a:noFill/>
          <a:ln/>
        </p:spPr>
        <p:txBody>
          <a:bodyPr wrap="square" lIns="0" tIns="0" rIns="0" bIns="0" rtlCol="0" anchor="t"/>
          <a:lstStyle/>
          <a:p>
            <a:pPr indent="0" marL="0">
              <a:buNone/>
            </a:pPr>
            <a:r>
              <a:rPr lang="en-US" sz="1400" dirty="0">
                <a:solidFill>
                  <a:schemeClr val="tx2"/>
                </a:solidFill>
              </a:rPr>
              <a:t>A model that always says “Ignored” is 80% accurate and useless. We score models by macro F1 and train with balanced class weights so the rare outcomes count.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Cleaning the gaps</a:t>
            </a:r>
            <a:endParaRPr lang="en-US" sz="3200" dirty="0"/>
          </a:p>
        </p:txBody>
      </p:sp>
      <p:graphicFrame>
        <p:nvGraphicFramePr>
          <p:cNvPr id="3" name="Missing values chart" descr=""/>
          <p:cNvGraphicFramePr/>
          <p:nvPr/>
        </p:nvGraphicFramePr>
        <p:xfrm>
          <a:off x="365760" y="1188720"/>
          <a:ext cx="4480560" cy="3291840"/>
        </p:xfrm>
        <a:graphic xmlns:a="http://schemas.openxmlformats.org/drawingml/2006/main">
          <a:graphicData uri="http://schemas.openxmlformats.org/drawingml/2006/chart">
            <c:chart xmlns:c="http://schemas.openxmlformats.org/drawingml/2006/chart" r:id="rId1"/>
          </a:graphicData>
        </a:graphic>
      </p:graphicFrame>
      <p:sp>
        <p:nvSpPr>
          <p:cNvPr id="4" name="Location circle"/>
          <p:cNvSpPr/>
          <p:nvPr/>
        </p:nvSpPr>
        <p:spPr>
          <a:xfrm>
            <a:off x="5212080" y="1280160"/>
            <a:ext cx="502920" cy="502920"/>
          </a:xfrm>
          <a:prstGeom prst="ellipse">
            <a:avLst/>
          </a:prstGeom>
          <a:solidFill>
            <a:schemeClr val="accent1"/>
          </a:solidFill>
          <a:ln/>
        </p:spPr>
      </p:sp>
      <p:pic>
        <p:nvPicPr>
          <p:cNvPr id="5" name="Location icon" descr="Location">    </p:cNvPr>
          <p:cNvPicPr>
            <a:picLocks noChangeAspect="1"/>
          </p:cNvPicPr>
          <p:nvPr/>
        </p:nvPicPr>
        <p:blipFill>
          <a:blip r:embed="rId2"/>
          <a:stretch>
            <a:fillRect/>
          </a:stretch>
        </p:blipFill>
        <p:spPr>
          <a:xfrm>
            <a:off x="5347868" y="1415948"/>
            <a:ext cx="231343" cy="231343"/>
          </a:xfrm>
          <a:prstGeom prst="rect">
            <a:avLst/>
          </a:prstGeom>
        </p:spPr>
      </p:pic>
      <p:sp>
        <p:nvSpPr>
          <p:cNvPr id="6" name="Text 2"/>
          <p:cNvSpPr txBox="1"/>
          <p:nvPr/>
        </p:nvSpPr>
        <p:spPr>
          <a:xfrm>
            <a:off x="5897880" y="1261872"/>
            <a:ext cx="2788920" cy="292608"/>
          </a:xfrm>
          <a:prstGeom prst="rect">
            <a:avLst/>
          </a:prstGeom>
          <a:noFill/>
          <a:ln/>
        </p:spPr>
        <p:txBody>
          <a:bodyPr wrap="square" lIns="0" tIns="0" rIns="0" bIns="0" rtlCol="0" anchor="t"/>
          <a:lstStyle/>
          <a:p>
            <a:pPr indent="0" marL="0">
              <a:buNone/>
            </a:pPr>
            <a:r>
              <a:rPr lang="en-US" sz="1600" b="1" dirty="0">
                <a:solidFill>
                  <a:schemeClr val="tx1"/>
                </a:solidFill>
              </a:rPr>
              <a:t>Location</a:t>
            </a:r>
            <a:endParaRPr lang="en-US" sz="1600" dirty="0"/>
          </a:p>
        </p:txBody>
      </p:sp>
      <p:sp>
        <p:nvSpPr>
          <p:cNvPr id="7" name="Text 3"/>
          <p:cNvSpPr txBox="1"/>
          <p:nvPr/>
        </p:nvSpPr>
        <p:spPr>
          <a:xfrm>
            <a:off x="5897880" y="1572768"/>
            <a:ext cx="2788920" cy="548640"/>
          </a:xfrm>
          <a:prstGeom prst="rect">
            <a:avLst/>
          </a:prstGeom>
          <a:noFill/>
          <a:ln/>
        </p:spPr>
        <p:txBody>
          <a:bodyPr wrap="square" lIns="0" tIns="0" rIns="0" bIns="0" rtlCol="0" anchor="t"/>
          <a:lstStyle/>
          <a:p>
            <a:pPr indent="0" marL="0">
              <a:buNone/>
            </a:pPr>
            <a:r>
              <a:rPr lang="en-US" sz="1400" dirty="0">
                <a:solidFill>
                  <a:schemeClr val="tx2"/>
                </a:solidFill>
              </a:rPr>
              <a:t>Missing became its own “Unknown” group, then one-hot encoded</a:t>
            </a:r>
            <a:endParaRPr lang="en-US" sz="1400" dirty="0"/>
          </a:p>
        </p:txBody>
      </p:sp>
      <p:sp>
        <p:nvSpPr>
          <p:cNvPr id="8" name="Numbers circle"/>
          <p:cNvSpPr/>
          <p:nvPr/>
        </p:nvSpPr>
        <p:spPr>
          <a:xfrm>
            <a:off x="5212080" y="2331720"/>
            <a:ext cx="502920" cy="502920"/>
          </a:xfrm>
          <a:prstGeom prst="ellipse">
            <a:avLst/>
          </a:prstGeom>
          <a:solidFill>
            <a:schemeClr val="accent1"/>
          </a:solidFill>
          <a:ln/>
        </p:spPr>
      </p:sp>
      <p:pic>
        <p:nvPicPr>
          <p:cNvPr id="9" name="Numbers icon" descr="Numbers">    </p:cNvPr>
          <p:cNvPicPr>
            <a:picLocks noChangeAspect="1"/>
          </p:cNvPicPr>
          <p:nvPr/>
        </p:nvPicPr>
        <p:blipFill>
          <a:blip r:embed="rId3"/>
          <a:stretch>
            <a:fillRect/>
          </a:stretch>
        </p:blipFill>
        <p:spPr>
          <a:xfrm>
            <a:off x="5347868" y="2467508"/>
            <a:ext cx="231343" cy="231343"/>
          </a:xfrm>
          <a:prstGeom prst="rect">
            <a:avLst/>
          </a:prstGeom>
        </p:spPr>
      </p:pic>
      <p:sp>
        <p:nvSpPr>
          <p:cNvPr id="10" name="Text 5"/>
          <p:cNvSpPr txBox="1"/>
          <p:nvPr/>
        </p:nvSpPr>
        <p:spPr>
          <a:xfrm>
            <a:off x="5897880" y="2313432"/>
            <a:ext cx="2788920" cy="292608"/>
          </a:xfrm>
          <a:prstGeom prst="rect">
            <a:avLst/>
          </a:prstGeom>
          <a:noFill/>
          <a:ln/>
        </p:spPr>
        <p:txBody>
          <a:bodyPr wrap="square" lIns="0" tIns="0" rIns="0" bIns="0" rtlCol="0" anchor="t"/>
          <a:lstStyle/>
          <a:p>
            <a:pPr indent="0" marL="0">
              <a:buNone/>
            </a:pPr>
            <a:r>
              <a:rPr lang="en-US" sz="1600" b="1" dirty="0">
                <a:solidFill>
                  <a:schemeClr val="tx1"/>
                </a:solidFill>
              </a:rPr>
              <a:t>Numbers</a:t>
            </a:r>
            <a:endParaRPr lang="en-US" sz="1600" dirty="0"/>
          </a:p>
        </p:txBody>
      </p:sp>
      <p:sp>
        <p:nvSpPr>
          <p:cNvPr id="11" name="Text 6"/>
          <p:cNvSpPr txBox="1"/>
          <p:nvPr/>
        </p:nvSpPr>
        <p:spPr>
          <a:xfrm>
            <a:off x="5897880" y="2624328"/>
            <a:ext cx="2788920" cy="548640"/>
          </a:xfrm>
          <a:prstGeom prst="rect">
            <a:avLst/>
          </a:prstGeom>
          <a:noFill/>
          <a:ln/>
        </p:spPr>
        <p:txBody>
          <a:bodyPr wrap="square" lIns="0" tIns="0" rIns="0" bIns="0" rtlCol="0" anchor="t"/>
          <a:lstStyle/>
          <a:p>
            <a:pPr indent="0" marL="0">
              <a:buNone/>
            </a:pPr>
            <a:r>
              <a:rPr lang="en-US" sz="1400" dirty="0">
                <a:solidFill>
                  <a:schemeClr val="tx2"/>
                </a:solidFill>
              </a:rPr>
              <a:t>Filled with the training median inside the model pipeline</a:t>
            </a:r>
            <a:endParaRPr lang="en-US" sz="1400" dirty="0"/>
          </a:p>
        </p:txBody>
      </p:sp>
      <p:sp>
        <p:nvSpPr>
          <p:cNvPr id="12" name="No leakage circle"/>
          <p:cNvSpPr/>
          <p:nvPr/>
        </p:nvSpPr>
        <p:spPr>
          <a:xfrm>
            <a:off x="5212080" y="3383280"/>
            <a:ext cx="502920" cy="502920"/>
          </a:xfrm>
          <a:prstGeom prst="ellipse">
            <a:avLst/>
          </a:prstGeom>
          <a:solidFill>
            <a:schemeClr val="accent1"/>
          </a:solidFill>
          <a:ln/>
        </p:spPr>
      </p:sp>
      <p:pic>
        <p:nvPicPr>
          <p:cNvPr id="13" name="No leakage icon" descr="No leakage">    </p:cNvPr>
          <p:cNvPicPr>
            <a:picLocks noChangeAspect="1"/>
          </p:cNvPicPr>
          <p:nvPr/>
        </p:nvPicPr>
        <p:blipFill>
          <a:blip r:embed="rId4"/>
          <a:stretch>
            <a:fillRect/>
          </a:stretch>
        </p:blipFill>
        <p:spPr>
          <a:xfrm>
            <a:off x="5347868" y="3519068"/>
            <a:ext cx="231343" cy="231343"/>
          </a:xfrm>
          <a:prstGeom prst="rect">
            <a:avLst/>
          </a:prstGeom>
        </p:spPr>
      </p:pic>
      <p:sp>
        <p:nvSpPr>
          <p:cNvPr id="14" name="Text 8"/>
          <p:cNvSpPr txBox="1"/>
          <p:nvPr/>
        </p:nvSpPr>
        <p:spPr>
          <a:xfrm>
            <a:off x="5897880" y="3364992"/>
            <a:ext cx="2788920" cy="292608"/>
          </a:xfrm>
          <a:prstGeom prst="rect">
            <a:avLst/>
          </a:prstGeom>
          <a:noFill/>
          <a:ln/>
        </p:spPr>
        <p:txBody>
          <a:bodyPr wrap="square" lIns="0" tIns="0" rIns="0" bIns="0" rtlCol="0" anchor="t"/>
          <a:lstStyle/>
          <a:p>
            <a:pPr indent="0" marL="0">
              <a:buNone/>
            </a:pPr>
            <a:r>
              <a:rPr lang="en-US" sz="1600" b="1" dirty="0">
                <a:solidFill>
                  <a:schemeClr val="tx1"/>
                </a:solidFill>
              </a:rPr>
              <a:t>No leakage</a:t>
            </a:r>
            <a:endParaRPr lang="en-US" sz="1600" dirty="0"/>
          </a:p>
        </p:txBody>
      </p:sp>
      <p:sp>
        <p:nvSpPr>
          <p:cNvPr id="15" name="Text 9"/>
          <p:cNvSpPr txBox="1"/>
          <p:nvPr/>
        </p:nvSpPr>
        <p:spPr>
          <a:xfrm>
            <a:off x="5897880" y="3675888"/>
            <a:ext cx="2788920" cy="548640"/>
          </a:xfrm>
          <a:prstGeom prst="rect">
            <a:avLst/>
          </a:prstGeom>
          <a:noFill/>
          <a:ln/>
        </p:spPr>
        <p:txBody>
          <a:bodyPr wrap="square" lIns="0" tIns="0" rIns="0" bIns="0" rtlCol="0" anchor="t"/>
          <a:lstStyle/>
          <a:p>
            <a:pPr indent="0" marL="0">
              <a:buNone/>
            </a:pPr>
            <a:r>
              <a:rPr lang="en-US" sz="1400" dirty="0">
                <a:solidFill>
                  <a:schemeClr val="tx2"/>
                </a:solidFill>
              </a:rPr>
              <a:t>The same pipeline cleans live inputs in the web app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Campaign type drives response</a:t>
            </a:r>
            <a:endParaRPr lang="en-US" sz="3200" dirty="0"/>
          </a:p>
        </p:txBody>
      </p:sp>
      <p:graphicFrame>
        <p:nvGraphicFramePr>
          <p:cNvPr id="3" name="Response by campaign type chart" descr=""/>
          <p:cNvGraphicFramePr/>
          <p:nvPr/>
        </p:nvGraphicFramePr>
        <p:xfrm>
          <a:off x="365760" y="114300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234440"/>
            <a:ext cx="28346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90%</a:t>
            </a:r>
            <a:endParaRPr lang="en-US" sz="4000" dirty="0"/>
          </a:p>
        </p:txBody>
      </p:sp>
      <p:sp>
        <p:nvSpPr>
          <p:cNvPr id="5" name="Text 2"/>
          <p:cNvSpPr txBox="1"/>
          <p:nvPr/>
        </p:nvSpPr>
        <p:spPr>
          <a:xfrm>
            <a:off x="5852160" y="1874520"/>
            <a:ext cx="2834640" cy="594360"/>
          </a:xfrm>
          <a:prstGeom prst="rect">
            <a:avLst/>
          </a:prstGeom>
          <a:noFill/>
          <a:ln/>
        </p:spPr>
        <p:txBody>
          <a:bodyPr wrap="square" lIns="0" tIns="0" rIns="0" bIns="0" rtlCol="0" anchor="t"/>
          <a:lstStyle/>
          <a:p>
            <a:pPr indent="0" marL="0">
              <a:buNone/>
            </a:pPr>
            <a:r>
              <a:rPr lang="en-US" sz="1400" dirty="0">
                <a:solidFill>
                  <a:schemeClr val="tx2"/>
                </a:solidFill>
              </a:rPr>
              <a:t>of type 1 emails were read or acknowledged, but type 1 is only 736 emails</a:t>
            </a:r>
            <a:endParaRPr lang="en-US" sz="1400" dirty="0"/>
          </a:p>
        </p:txBody>
      </p:sp>
      <p:sp>
        <p:nvSpPr>
          <p:cNvPr id="6" name="Text 3"/>
          <p:cNvSpPr txBox="1"/>
          <p:nvPr/>
        </p:nvSpPr>
        <p:spPr>
          <a:xfrm>
            <a:off x="5852160" y="2743200"/>
            <a:ext cx="2834640" cy="64008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87%</a:t>
            </a:r>
            <a:endParaRPr lang="en-US" sz="4000" dirty="0"/>
          </a:p>
        </p:txBody>
      </p:sp>
      <p:sp>
        <p:nvSpPr>
          <p:cNvPr id="7" name="Text 4"/>
          <p:cNvSpPr txBox="1"/>
          <p:nvPr/>
        </p:nvSpPr>
        <p:spPr>
          <a:xfrm>
            <a:off x="5852160" y="3383280"/>
            <a:ext cx="2834640" cy="594360"/>
          </a:xfrm>
          <a:prstGeom prst="rect">
            <a:avLst/>
          </a:prstGeom>
          <a:noFill/>
          <a:ln/>
        </p:spPr>
        <p:txBody>
          <a:bodyPr wrap="square" lIns="0" tIns="0" rIns="0" bIns="0" rtlCol="0" anchor="t"/>
          <a:lstStyle/>
          <a:p>
            <a:pPr indent="0" marL="0">
              <a:buNone/>
            </a:pPr>
            <a:r>
              <a:rPr lang="en-US" sz="1400" dirty="0">
                <a:solidFill>
                  <a:schemeClr val="tx2"/>
                </a:solidFill>
              </a:rPr>
              <a:t>of type 2 emails were ignored, and type 2 makes up 71% of all emails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Engaged readers look different</a:t>
            </a:r>
            <a:endParaRPr lang="en-US" sz="3200" dirty="0"/>
          </a:p>
        </p:txBody>
      </p:sp>
      <p:sp>
        <p:nvSpPr>
          <p:cNvPr id="3" name="Ignored dot"/>
          <p:cNvSpPr/>
          <p:nvPr/>
        </p:nvSpPr>
        <p:spPr>
          <a:xfrm>
            <a:off x="3017520" y="1353312"/>
            <a:ext cx="146304" cy="146304"/>
          </a:xfrm>
          <a:prstGeom prst="ellipse">
            <a:avLst/>
          </a:prstGeom>
          <a:solidFill>
            <a:schemeClr val="accent3"/>
          </a:solidFill>
          <a:ln/>
        </p:spPr>
      </p:sp>
      <p:sp>
        <p:nvSpPr>
          <p:cNvPr id="4" name="Text 2"/>
          <p:cNvSpPr txBox="1"/>
          <p:nvPr/>
        </p:nvSpPr>
        <p:spPr>
          <a:xfrm>
            <a:off x="3246120" y="1261872"/>
            <a:ext cx="1554480" cy="320040"/>
          </a:xfrm>
          <a:prstGeom prst="rect">
            <a:avLst/>
          </a:prstGeom>
          <a:noFill/>
          <a:ln/>
        </p:spPr>
        <p:txBody>
          <a:bodyPr wrap="square" lIns="0" tIns="0" rIns="0" bIns="0" rtlCol="0" anchor="t"/>
          <a:lstStyle/>
          <a:p>
            <a:pPr indent="0" marL="0">
              <a:buNone/>
            </a:pPr>
            <a:r>
              <a:rPr lang="en-US" sz="1400" b="1" dirty="0">
                <a:solidFill>
                  <a:schemeClr val="tx2"/>
                </a:solidFill>
              </a:rPr>
              <a:t>Ignored</a:t>
            </a:r>
            <a:endParaRPr lang="en-US" sz="1400" dirty="0"/>
          </a:p>
        </p:txBody>
      </p:sp>
      <p:sp>
        <p:nvSpPr>
          <p:cNvPr id="5" name="Read dot"/>
          <p:cNvSpPr/>
          <p:nvPr/>
        </p:nvSpPr>
        <p:spPr>
          <a:xfrm>
            <a:off x="4937760" y="1353312"/>
            <a:ext cx="146304" cy="146304"/>
          </a:xfrm>
          <a:prstGeom prst="ellipse">
            <a:avLst/>
          </a:prstGeom>
          <a:solidFill>
            <a:schemeClr val="accent1"/>
          </a:solidFill>
          <a:ln/>
        </p:spPr>
      </p:sp>
      <p:sp>
        <p:nvSpPr>
          <p:cNvPr id="6" name="Text 4"/>
          <p:cNvSpPr txBox="1"/>
          <p:nvPr/>
        </p:nvSpPr>
        <p:spPr>
          <a:xfrm>
            <a:off x="5166360" y="1261872"/>
            <a:ext cx="1554480" cy="320040"/>
          </a:xfrm>
          <a:prstGeom prst="rect">
            <a:avLst/>
          </a:prstGeom>
          <a:noFill/>
          <a:ln/>
        </p:spPr>
        <p:txBody>
          <a:bodyPr wrap="square" lIns="0" tIns="0" rIns="0" bIns="0" rtlCol="0" anchor="t"/>
          <a:lstStyle/>
          <a:p>
            <a:pPr indent="0" marL="0">
              <a:buNone/>
            </a:pPr>
            <a:r>
              <a:rPr lang="en-US" sz="1400" b="1" dirty="0">
                <a:solidFill>
                  <a:schemeClr val="tx2"/>
                </a:solidFill>
              </a:rPr>
              <a:t>Read</a:t>
            </a:r>
            <a:endParaRPr lang="en-US" sz="1400" dirty="0"/>
          </a:p>
        </p:txBody>
      </p:sp>
      <p:sp>
        <p:nvSpPr>
          <p:cNvPr id="7" name="Acknowledged dot"/>
          <p:cNvSpPr/>
          <p:nvPr/>
        </p:nvSpPr>
        <p:spPr>
          <a:xfrm>
            <a:off x="6858000" y="1353312"/>
            <a:ext cx="146304" cy="146304"/>
          </a:xfrm>
          <a:prstGeom prst="ellipse">
            <a:avLst/>
          </a:prstGeom>
          <a:solidFill>
            <a:schemeClr val="accent2"/>
          </a:solidFill>
          <a:ln/>
        </p:spPr>
      </p:sp>
      <p:sp>
        <p:nvSpPr>
          <p:cNvPr id="8" name="Text 6"/>
          <p:cNvSpPr txBox="1"/>
          <p:nvPr/>
        </p:nvSpPr>
        <p:spPr>
          <a:xfrm>
            <a:off x="7086600" y="1261872"/>
            <a:ext cx="1554480" cy="320040"/>
          </a:xfrm>
          <a:prstGeom prst="rect">
            <a:avLst/>
          </a:prstGeom>
          <a:noFill/>
          <a:ln/>
        </p:spPr>
        <p:txBody>
          <a:bodyPr wrap="square" lIns="0" tIns="0" rIns="0" bIns="0" rtlCol="0" anchor="t"/>
          <a:lstStyle/>
          <a:p>
            <a:pPr indent="0" marL="0">
              <a:buNone/>
            </a:pPr>
            <a:r>
              <a:rPr lang="en-US" sz="1400" b="1" dirty="0">
                <a:solidFill>
                  <a:schemeClr val="tx2"/>
                </a:solidFill>
              </a:rPr>
              <a:t>Acknowledged</a:t>
            </a:r>
            <a:endParaRPr lang="en-US" sz="1400" dirty="0"/>
          </a:p>
        </p:txBody>
      </p:sp>
      <p:sp>
        <p:nvSpPr>
          <p:cNvPr id="9" name="Past emails received row"/>
          <p:cNvSpPr/>
          <p:nvPr/>
        </p:nvSpPr>
        <p:spPr>
          <a:xfrm>
            <a:off x="457200" y="1783080"/>
            <a:ext cx="8229600" cy="804672"/>
          </a:xfrm>
          <a:prstGeom prst="roundRect">
            <a:avLst>
              <a:gd name="adj" fmla="val 9091"/>
            </a:avLst>
          </a:prstGeom>
          <a:solidFill>
            <a:schemeClr val="bg2"/>
          </a:solidFill>
          <a:ln/>
        </p:spPr>
      </p:sp>
      <p:sp>
        <p:nvSpPr>
          <p:cNvPr id="10" name="Text 8"/>
          <p:cNvSpPr txBox="1"/>
          <p:nvPr/>
        </p:nvSpPr>
        <p:spPr>
          <a:xfrm>
            <a:off x="640080" y="1874520"/>
            <a:ext cx="2286000" cy="320040"/>
          </a:xfrm>
          <a:prstGeom prst="rect">
            <a:avLst/>
          </a:prstGeom>
          <a:noFill/>
          <a:ln/>
        </p:spPr>
        <p:txBody>
          <a:bodyPr wrap="square" lIns="0" tIns="0" rIns="0" bIns="0" rtlCol="0" anchor="t"/>
          <a:lstStyle/>
          <a:p>
            <a:pPr indent="0" marL="0">
              <a:buNone/>
            </a:pPr>
            <a:r>
              <a:rPr lang="en-US" sz="1500" b="1" dirty="0">
                <a:solidFill>
                  <a:schemeClr val="tx1"/>
                </a:solidFill>
              </a:rPr>
              <a:t>Past emails received</a:t>
            </a:r>
            <a:endParaRPr lang="en-US" sz="1500" dirty="0"/>
          </a:p>
        </p:txBody>
      </p:sp>
      <p:sp>
        <p:nvSpPr>
          <p:cNvPr id="11" name="Text 9"/>
          <p:cNvSpPr txBox="1"/>
          <p:nvPr/>
        </p:nvSpPr>
        <p:spPr>
          <a:xfrm>
            <a:off x="640080" y="2194560"/>
            <a:ext cx="2331720" cy="320040"/>
          </a:xfrm>
          <a:prstGeom prst="rect">
            <a:avLst/>
          </a:prstGeom>
          <a:noFill/>
          <a:ln/>
        </p:spPr>
        <p:txBody>
          <a:bodyPr wrap="square" lIns="0" tIns="0" rIns="0" bIns="0" rtlCol="0" anchor="t"/>
          <a:lstStyle/>
          <a:p>
            <a:pPr indent="0" marL="0">
              <a:buNone/>
            </a:pPr>
            <a:r>
              <a:rPr lang="en-US" sz="1200" dirty="0">
                <a:solidFill>
                  <a:schemeClr val="tx2"/>
                </a:solidFill>
              </a:rPr>
              <a:t>More history, more engagement</a:t>
            </a:r>
            <a:endParaRPr lang="en-US" sz="1200" dirty="0"/>
          </a:p>
        </p:txBody>
      </p:sp>
      <p:sp>
        <p:nvSpPr>
          <p:cNvPr id="12" name="Text 10"/>
          <p:cNvSpPr txBox="1"/>
          <p:nvPr/>
        </p:nvSpPr>
        <p:spPr>
          <a:xfrm>
            <a:off x="3017520" y="1892808"/>
            <a:ext cx="173736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27.4</a:t>
            </a:r>
            <a:endParaRPr lang="en-US" sz="2800" dirty="0"/>
          </a:p>
        </p:txBody>
      </p:sp>
      <p:sp>
        <p:nvSpPr>
          <p:cNvPr id="13" name="Text 11"/>
          <p:cNvSpPr txBox="1"/>
          <p:nvPr/>
        </p:nvSpPr>
        <p:spPr>
          <a:xfrm>
            <a:off x="4937760" y="1892808"/>
            <a:ext cx="1737360" cy="59436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34.7</a:t>
            </a:r>
            <a:endParaRPr lang="en-US" sz="2800" dirty="0"/>
          </a:p>
        </p:txBody>
      </p:sp>
      <p:sp>
        <p:nvSpPr>
          <p:cNvPr id="14" name="Text 12"/>
          <p:cNvSpPr txBox="1"/>
          <p:nvPr/>
        </p:nvSpPr>
        <p:spPr>
          <a:xfrm>
            <a:off x="6858000" y="1892808"/>
            <a:ext cx="1737360" cy="59436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37.6</a:t>
            </a:r>
            <a:endParaRPr lang="en-US" sz="2800" dirty="0"/>
          </a:p>
        </p:txBody>
      </p:sp>
      <p:sp>
        <p:nvSpPr>
          <p:cNvPr id="15" name="Word count row"/>
          <p:cNvSpPr/>
          <p:nvPr/>
        </p:nvSpPr>
        <p:spPr>
          <a:xfrm>
            <a:off x="457200" y="2743200"/>
            <a:ext cx="8229600" cy="804672"/>
          </a:xfrm>
          <a:prstGeom prst="roundRect">
            <a:avLst>
              <a:gd name="adj" fmla="val 9091"/>
            </a:avLst>
          </a:prstGeom>
          <a:solidFill>
            <a:schemeClr val="bg1"/>
          </a:solidFill>
          <a:ln/>
        </p:spPr>
      </p:sp>
      <p:sp>
        <p:nvSpPr>
          <p:cNvPr id="16" name="Text 14"/>
          <p:cNvSpPr txBox="1"/>
          <p:nvPr/>
        </p:nvSpPr>
        <p:spPr>
          <a:xfrm>
            <a:off x="640080" y="2834640"/>
            <a:ext cx="2286000" cy="320040"/>
          </a:xfrm>
          <a:prstGeom prst="rect">
            <a:avLst/>
          </a:prstGeom>
          <a:noFill/>
          <a:ln/>
        </p:spPr>
        <p:txBody>
          <a:bodyPr wrap="square" lIns="0" tIns="0" rIns="0" bIns="0" rtlCol="0" anchor="t"/>
          <a:lstStyle/>
          <a:p>
            <a:pPr indent="0" marL="0">
              <a:buNone/>
            </a:pPr>
            <a:r>
              <a:rPr lang="en-US" sz="1500" b="1" dirty="0">
                <a:solidFill>
                  <a:schemeClr val="tx1"/>
                </a:solidFill>
              </a:rPr>
              <a:t>Word count</a:t>
            </a:r>
            <a:endParaRPr lang="en-US" sz="1500" dirty="0"/>
          </a:p>
        </p:txBody>
      </p:sp>
      <p:sp>
        <p:nvSpPr>
          <p:cNvPr id="17" name="Text 15"/>
          <p:cNvSpPr txBox="1"/>
          <p:nvPr/>
        </p:nvSpPr>
        <p:spPr>
          <a:xfrm>
            <a:off x="640080" y="3154680"/>
            <a:ext cx="2331720" cy="320040"/>
          </a:xfrm>
          <a:prstGeom prst="rect">
            <a:avLst/>
          </a:prstGeom>
          <a:noFill/>
          <a:ln/>
        </p:spPr>
        <p:txBody>
          <a:bodyPr wrap="square" lIns="0" tIns="0" rIns="0" bIns="0" rtlCol="0" anchor="t"/>
          <a:lstStyle/>
          <a:p>
            <a:pPr indent="0" marL="0">
              <a:buNone/>
            </a:pPr>
            <a:r>
              <a:rPr lang="en-US" sz="1200" dirty="0">
                <a:solidFill>
                  <a:schemeClr val="tx2"/>
                </a:solidFill>
              </a:rPr>
              <a:t>Engaged emails are shorter</a:t>
            </a:r>
            <a:endParaRPr lang="en-US" sz="1200" dirty="0"/>
          </a:p>
        </p:txBody>
      </p:sp>
      <p:sp>
        <p:nvSpPr>
          <p:cNvPr id="18" name="Text 16"/>
          <p:cNvSpPr txBox="1"/>
          <p:nvPr/>
        </p:nvSpPr>
        <p:spPr>
          <a:xfrm>
            <a:off x="3017520" y="2852928"/>
            <a:ext cx="173736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725</a:t>
            </a:r>
            <a:endParaRPr lang="en-US" sz="2800" dirty="0"/>
          </a:p>
        </p:txBody>
      </p:sp>
      <p:sp>
        <p:nvSpPr>
          <p:cNvPr id="19" name="Text 17"/>
          <p:cNvSpPr txBox="1"/>
          <p:nvPr/>
        </p:nvSpPr>
        <p:spPr>
          <a:xfrm>
            <a:off x="4937760" y="2852928"/>
            <a:ext cx="1737360" cy="59436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591</a:t>
            </a:r>
            <a:endParaRPr lang="en-US" sz="2800" dirty="0"/>
          </a:p>
        </p:txBody>
      </p:sp>
      <p:sp>
        <p:nvSpPr>
          <p:cNvPr id="20" name="Text 18"/>
          <p:cNvSpPr txBox="1"/>
          <p:nvPr/>
        </p:nvSpPr>
        <p:spPr>
          <a:xfrm>
            <a:off x="6858000" y="2852928"/>
            <a:ext cx="1737360" cy="59436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621</a:t>
            </a:r>
            <a:endParaRPr lang="en-US" sz="2800" dirty="0"/>
          </a:p>
        </p:txBody>
      </p:sp>
      <p:sp>
        <p:nvSpPr>
          <p:cNvPr id="21" name="Subject hotness score row"/>
          <p:cNvSpPr/>
          <p:nvPr/>
        </p:nvSpPr>
        <p:spPr>
          <a:xfrm>
            <a:off x="457200" y="3703320"/>
            <a:ext cx="8229600" cy="804672"/>
          </a:xfrm>
          <a:prstGeom prst="roundRect">
            <a:avLst>
              <a:gd name="adj" fmla="val 9091"/>
            </a:avLst>
          </a:prstGeom>
          <a:solidFill>
            <a:schemeClr val="bg2"/>
          </a:solidFill>
          <a:ln/>
        </p:spPr>
      </p:sp>
      <p:sp>
        <p:nvSpPr>
          <p:cNvPr id="22" name="Text 20"/>
          <p:cNvSpPr txBox="1"/>
          <p:nvPr/>
        </p:nvSpPr>
        <p:spPr>
          <a:xfrm>
            <a:off x="640080" y="37947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Subject hotness score</a:t>
            </a:r>
            <a:endParaRPr lang="en-US" sz="1500" dirty="0"/>
          </a:p>
        </p:txBody>
      </p:sp>
      <p:sp>
        <p:nvSpPr>
          <p:cNvPr id="23" name="Text 21"/>
          <p:cNvSpPr txBox="1"/>
          <p:nvPr/>
        </p:nvSpPr>
        <p:spPr>
          <a:xfrm>
            <a:off x="640080" y="4114800"/>
            <a:ext cx="2331720" cy="320040"/>
          </a:xfrm>
          <a:prstGeom prst="rect">
            <a:avLst/>
          </a:prstGeom>
          <a:noFill/>
          <a:ln/>
        </p:spPr>
        <p:txBody>
          <a:bodyPr wrap="square" lIns="0" tIns="0" rIns="0" bIns="0" rtlCol="0" anchor="t"/>
          <a:lstStyle/>
          <a:p>
            <a:pPr indent="0" marL="0">
              <a:buNone/>
            </a:pPr>
            <a:r>
              <a:rPr lang="en-US" sz="1200" dirty="0">
                <a:solidFill>
                  <a:schemeClr val="tx2"/>
                </a:solidFill>
              </a:rPr>
              <a:t>Hotter subjects did worse</a:t>
            </a:r>
            <a:endParaRPr lang="en-US" sz="1200" dirty="0"/>
          </a:p>
        </p:txBody>
      </p:sp>
      <p:sp>
        <p:nvSpPr>
          <p:cNvPr id="24" name="Text 22"/>
          <p:cNvSpPr txBox="1"/>
          <p:nvPr/>
        </p:nvSpPr>
        <p:spPr>
          <a:xfrm>
            <a:off x="3017520" y="3813048"/>
            <a:ext cx="173736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1.16</a:t>
            </a:r>
            <a:endParaRPr lang="en-US" sz="2800" dirty="0"/>
          </a:p>
        </p:txBody>
      </p:sp>
      <p:sp>
        <p:nvSpPr>
          <p:cNvPr id="25" name="Text 23"/>
          <p:cNvSpPr txBox="1"/>
          <p:nvPr/>
        </p:nvSpPr>
        <p:spPr>
          <a:xfrm>
            <a:off x="4937760" y="3813048"/>
            <a:ext cx="1737360" cy="59436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0.91</a:t>
            </a:r>
            <a:endParaRPr lang="en-US" sz="2800" dirty="0"/>
          </a:p>
        </p:txBody>
      </p:sp>
      <p:sp>
        <p:nvSpPr>
          <p:cNvPr id="26" name="Text 24"/>
          <p:cNvSpPr txBox="1"/>
          <p:nvPr/>
        </p:nvSpPr>
        <p:spPr>
          <a:xfrm>
            <a:off x="6858000" y="3813048"/>
            <a:ext cx="1737360" cy="59436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0.49</a:t>
            </a:r>
            <a:endParaRPr lang="en-US" sz="2800" dirty="0"/>
          </a:p>
        </p:txBody>
      </p:sp>
      <p:sp>
        <p:nvSpPr>
          <p:cNvPr id="27" name="Text 25"/>
          <p:cNvSpPr txBox="1"/>
          <p:nvPr/>
        </p:nvSpPr>
        <p:spPr>
          <a:xfrm>
            <a:off x="457200" y="1261872"/>
            <a:ext cx="2377440" cy="320040"/>
          </a:xfrm>
          <a:prstGeom prst="rect">
            <a:avLst/>
          </a:prstGeom>
          <a:noFill/>
          <a:ln/>
        </p:spPr>
        <p:txBody>
          <a:bodyPr wrap="square" lIns="0" tIns="0" rIns="0" bIns="0" rtlCol="0" anchor="t"/>
          <a:lstStyle/>
          <a:p>
            <a:pPr indent="0" marL="0">
              <a:buNone/>
            </a:pPr>
            <a:r>
              <a:rPr lang="en-US" sz="1200" dirty="0">
                <a:solidFill>
                  <a:schemeClr val="tx2"/>
                </a:solidFill>
              </a:rPr>
              <a:t>Average value per outcome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How we built the model</a:t>
            </a:r>
            <a:endParaRPr lang="en-US" sz="3200" dirty="0"/>
          </a:p>
        </p:txBody>
      </p:sp>
      <p:sp>
        <p:nvSpPr>
          <p:cNvPr id="3" name="Clean circle"/>
          <p:cNvSpPr/>
          <p:nvPr/>
        </p:nvSpPr>
        <p:spPr>
          <a:xfrm>
            <a:off x="868680" y="1463040"/>
            <a:ext cx="685800" cy="685800"/>
          </a:xfrm>
          <a:prstGeom prst="ellipse">
            <a:avLst/>
          </a:prstGeom>
          <a:solidFill>
            <a:schemeClr val="accent1"/>
          </a:solidFill>
          <a:ln/>
        </p:spPr>
      </p:sp>
      <p:pic>
        <p:nvPicPr>
          <p:cNvPr id="4" name="Clean icon" descr="Clean">    </p:cNvPr>
          <p:cNvPicPr>
            <a:picLocks noChangeAspect="1"/>
          </p:cNvPicPr>
          <p:nvPr/>
        </p:nvPicPr>
        <p:blipFill>
          <a:blip r:embed="rId1"/>
          <a:stretch>
            <a:fillRect/>
          </a:stretch>
        </p:blipFill>
        <p:spPr>
          <a:xfrm>
            <a:off x="1053846" y="1648206"/>
            <a:ext cx="315468" cy="315468"/>
          </a:xfrm>
          <a:prstGeom prst="rect">
            <a:avLst/>
          </a:prstGeom>
        </p:spPr>
      </p:pic>
      <p:sp>
        <p:nvSpPr>
          <p:cNvPr id="5" name="Arrow 1"/>
          <p:cNvSpPr/>
          <p:nvPr/>
        </p:nvSpPr>
        <p:spPr>
          <a:xfrm>
            <a:off x="1645920" y="1805940"/>
            <a:ext cx="685800" cy="0"/>
          </a:xfrm>
          <a:prstGeom prst="line">
            <a:avLst/>
          </a:prstGeom>
          <a:noFill/>
          <a:ln w="25400">
            <a:solidFill>
              <a:schemeClr val="accent3"/>
            </a:solidFill>
            <a:prstDash val="solid"/>
            <a:tailEnd type="triangle"/>
          </a:ln>
        </p:spPr>
      </p:sp>
      <p:sp>
        <p:nvSpPr>
          <p:cNvPr id="6" name="Text 3"/>
          <p:cNvSpPr txBox="1"/>
          <p:nvPr/>
        </p:nvSpPr>
        <p:spPr>
          <a:xfrm>
            <a:off x="457200" y="2331720"/>
            <a:ext cx="1508760" cy="320040"/>
          </a:xfrm>
          <a:prstGeom prst="rect">
            <a:avLst/>
          </a:prstGeom>
          <a:noFill/>
          <a:ln/>
        </p:spPr>
        <p:txBody>
          <a:bodyPr wrap="square" lIns="0" tIns="0" rIns="0" bIns="0" rtlCol="0" anchor="t"/>
          <a:lstStyle/>
          <a:p>
            <a:pPr algn="ctr" indent="0" marL="0">
              <a:buNone/>
            </a:pPr>
            <a:r>
              <a:rPr lang="en-US" sz="1600" b="1" dirty="0">
                <a:solidFill>
                  <a:schemeClr val="tx1"/>
                </a:solidFill>
              </a:rPr>
              <a:t>1. Clean</a:t>
            </a:r>
            <a:endParaRPr lang="en-US" sz="1600" dirty="0"/>
          </a:p>
        </p:txBody>
      </p:sp>
      <p:sp>
        <p:nvSpPr>
          <p:cNvPr id="7" name="Text 4"/>
          <p:cNvSpPr txBox="1"/>
          <p:nvPr/>
        </p:nvSpPr>
        <p:spPr>
          <a:xfrm>
            <a:off x="457200" y="2697480"/>
            <a:ext cx="1508760" cy="731520"/>
          </a:xfrm>
          <a:prstGeom prst="rect">
            <a:avLst/>
          </a:prstGeom>
          <a:noFill/>
          <a:ln/>
        </p:spPr>
        <p:txBody>
          <a:bodyPr wrap="square" lIns="0" tIns="0" rIns="0" bIns="0" rtlCol="0" anchor="t"/>
          <a:lstStyle/>
          <a:p>
            <a:pPr algn="ctr" indent="0" marL="0">
              <a:buNone/>
            </a:pPr>
            <a:r>
              <a:rPr lang="en-US" sz="1400" dirty="0">
                <a:solidFill>
                  <a:schemeClr val="tx2"/>
                </a:solidFill>
              </a:rPr>
              <a:t>Impute gaps, encode location</a:t>
            </a:r>
            <a:endParaRPr lang="en-US" sz="1400" dirty="0"/>
          </a:p>
        </p:txBody>
      </p:sp>
      <p:sp>
        <p:nvSpPr>
          <p:cNvPr id="8" name="Split circle"/>
          <p:cNvSpPr/>
          <p:nvPr/>
        </p:nvSpPr>
        <p:spPr>
          <a:xfrm>
            <a:off x="2560320" y="1463040"/>
            <a:ext cx="685800" cy="685800"/>
          </a:xfrm>
          <a:prstGeom prst="ellipse">
            <a:avLst/>
          </a:prstGeom>
          <a:solidFill>
            <a:schemeClr val="accent1"/>
          </a:solidFill>
          <a:ln/>
        </p:spPr>
      </p:sp>
      <p:pic>
        <p:nvPicPr>
          <p:cNvPr id="9" name="Split icon" descr="Split">    </p:cNvPr>
          <p:cNvPicPr>
            <a:picLocks noChangeAspect="1"/>
          </p:cNvPicPr>
          <p:nvPr/>
        </p:nvPicPr>
        <p:blipFill>
          <a:blip r:embed="rId2"/>
          <a:stretch>
            <a:fillRect/>
          </a:stretch>
        </p:blipFill>
        <p:spPr>
          <a:xfrm>
            <a:off x="2745486" y="1648206"/>
            <a:ext cx="315468" cy="315468"/>
          </a:xfrm>
          <a:prstGeom prst="rect">
            <a:avLst/>
          </a:prstGeom>
        </p:spPr>
      </p:pic>
      <p:sp>
        <p:nvSpPr>
          <p:cNvPr id="10" name="Arrow 2"/>
          <p:cNvSpPr/>
          <p:nvPr/>
        </p:nvSpPr>
        <p:spPr>
          <a:xfrm>
            <a:off x="3337560" y="1805940"/>
            <a:ext cx="685800" cy="0"/>
          </a:xfrm>
          <a:prstGeom prst="line">
            <a:avLst/>
          </a:prstGeom>
          <a:noFill/>
          <a:ln w="25400">
            <a:solidFill>
              <a:schemeClr val="accent3"/>
            </a:solidFill>
            <a:prstDash val="solid"/>
            <a:tailEnd type="triangle"/>
          </a:ln>
        </p:spPr>
      </p:sp>
      <p:sp>
        <p:nvSpPr>
          <p:cNvPr id="11" name="Text 7"/>
          <p:cNvSpPr txBox="1"/>
          <p:nvPr/>
        </p:nvSpPr>
        <p:spPr>
          <a:xfrm>
            <a:off x="2148840" y="2331720"/>
            <a:ext cx="1508760" cy="320040"/>
          </a:xfrm>
          <a:prstGeom prst="rect">
            <a:avLst/>
          </a:prstGeom>
          <a:noFill/>
          <a:ln/>
        </p:spPr>
        <p:txBody>
          <a:bodyPr wrap="square" lIns="0" tIns="0" rIns="0" bIns="0" rtlCol="0" anchor="t"/>
          <a:lstStyle/>
          <a:p>
            <a:pPr algn="ctr" indent="0" marL="0">
              <a:buNone/>
            </a:pPr>
            <a:r>
              <a:rPr lang="en-US" sz="1600" b="1" dirty="0">
                <a:solidFill>
                  <a:schemeClr val="tx1"/>
                </a:solidFill>
              </a:rPr>
              <a:t>2. Split</a:t>
            </a:r>
            <a:endParaRPr lang="en-US" sz="1600" dirty="0"/>
          </a:p>
        </p:txBody>
      </p:sp>
      <p:sp>
        <p:nvSpPr>
          <p:cNvPr id="12" name="Text 8"/>
          <p:cNvSpPr txBox="1"/>
          <p:nvPr/>
        </p:nvSpPr>
        <p:spPr>
          <a:xfrm>
            <a:off x="2148840" y="2697480"/>
            <a:ext cx="1508760" cy="731520"/>
          </a:xfrm>
          <a:prstGeom prst="rect">
            <a:avLst/>
          </a:prstGeom>
          <a:noFill/>
          <a:ln/>
        </p:spPr>
        <p:txBody>
          <a:bodyPr wrap="square" lIns="0" tIns="0" rIns="0" bIns="0" rtlCol="0" anchor="t"/>
          <a:lstStyle/>
          <a:p>
            <a:pPr algn="ctr" indent="0" marL="0">
              <a:buNone/>
            </a:pPr>
            <a:r>
              <a:rPr lang="en-US" sz="1400" dirty="0">
                <a:solidFill>
                  <a:schemeClr val="tx2"/>
                </a:solidFill>
              </a:rPr>
              <a:t>80% train, 20% test, stratified</a:t>
            </a:r>
            <a:endParaRPr lang="en-US" sz="1400" dirty="0"/>
          </a:p>
        </p:txBody>
      </p:sp>
      <p:sp>
        <p:nvSpPr>
          <p:cNvPr id="13" name="Train circle"/>
          <p:cNvSpPr/>
          <p:nvPr/>
        </p:nvSpPr>
        <p:spPr>
          <a:xfrm>
            <a:off x="4251960" y="1463040"/>
            <a:ext cx="685800" cy="685800"/>
          </a:xfrm>
          <a:prstGeom prst="ellipse">
            <a:avLst/>
          </a:prstGeom>
          <a:solidFill>
            <a:schemeClr val="accent1"/>
          </a:solidFill>
          <a:ln/>
        </p:spPr>
      </p:sp>
      <p:pic>
        <p:nvPicPr>
          <p:cNvPr id="14" name="Train icon" descr="Train">    </p:cNvPr>
          <p:cNvPicPr>
            <a:picLocks noChangeAspect="1"/>
          </p:cNvPicPr>
          <p:nvPr/>
        </p:nvPicPr>
        <p:blipFill>
          <a:blip r:embed="rId3"/>
          <a:stretch>
            <a:fillRect/>
          </a:stretch>
        </p:blipFill>
        <p:spPr>
          <a:xfrm>
            <a:off x="4437126" y="1648206"/>
            <a:ext cx="315468" cy="315468"/>
          </a:xfrm>
          <a:prstGeom prst="rect">
            <a:avLst/>
          </a:prstGeom>
        </p:spPr>
      </p:pic>
      <p:sp>
        <p:nvSpPr>
          <p:cNvPr id="15" name="Arrow 3"/>
          <p:cNvSpPr/>
          <p:nvPr/>
        </p:nvSpPr>
        <p:spPr>
          <a:xfrm>
            <a:off x="5029200" y="1805940"/>
            <a:ext cx="685800" cy="0"/>
          </a:xfrm>
          <a:prstGeom prst="line">
            <a:avLst/>
          </a:prstGeom>
          <a:noFill/>
          <a:ln w="25400">
            <a:solidFill>
              <a:schemeClr val="accent3"/>
            </a:solidFill>
            <a:prstDash val="solid"/>
            <a:tailEnd type="triangle"/>
          </a:ln>
        </p:spPr>
      </p:sp>
      <p:sp>
        <p:nvSpPr>
          <p:cNvPr id="16" name="Text 11"/>
          <p:cNvSpPr txBox="1"/>
          <p:nvPr/>
        </p:nvSpPr>
        <p:spPr>
          <a:xfrm>
            <a:off x="3840480" y="2331720"/>
            <a:ext cx="1508760" cy="320040"/>
          </a:xfrm>
          <a:prstGeom prst="rect">
            <a:avLst/>
          </a:prstGeom>
          <a:noFill/>
          <a:ln/>
        </p:spPr>
        <p:txBody>
          <a:bodyPr wrap="square" lIns="0" tIns="0" rIns="0" bIns="0" rtlCol="0" anchor="t"/>
          <a:lstStyle/>
          <a:p>
            <a:pPr algn="ctr" indent="0" marL="0">
              <a:buNone/>
            </a:pPr>
            <a:r>
              <a:rPr lang="en-US" sz="1600" b="1" dirty="0">
                <a:solidFill>
                  <a:schemeClr val="tx1"/>
                </a:solidFill>
              </a:rPr>
              <a:t>3. Train</a:t>
            </a:r>
            <a:endParaRPr lang="en-US" sz="1600" dirty="0"/>
          </a:p>
        </p:txBody>
      </p:sp>
      <p:sp>
        <p:nvSpPr>
          <p:cNvPr id="17" name="Text 12"/>
          <p:cNvSpPr txBox="1"/>
          <p:nvPr/>
        </p:nvSpPr>
        <p:spPr>
          <a:xfrm>
            <a:off x="3840480" y="2697480"/>
            <a:ext cx="1508760" cy="731520"/>
          </a:xfrm>
          <a:prstGeom prst="rect">
            <a:avLst/>
          </a:prstGeom>
          <a:noFill/>
          <a:ln/>
        </p:spPr>
        <p:txBody>
          <a:bodyPr wrap="square" lIns="0" tIns="0" rIns="0" bIns="0" rtlCol="0" anchor="t"/>
          <a:lstStyle/>
          <a:p>
            <a:pPr algn="ctr" indent="0" marL="0">
              <a:buNone/>
            </a:pPr>
            <a:r>
              <a:rPr lang="en-US" sz="1400" dirty="0">
                <a:solidFill>
                  <a:schemeClr val="tx2"/>
                </a:solidFill>
              </a:rPr>
              <a:t>4 models with balanced class weights</a:t>
            </a:r>
            <a:endParaRPr lang="en-US" sz="1400" dirty="0"/>
          </a:p>
        </p:txBody>
      </p:sp>
      <p:sp>
        <p:nvSpPr>
          <p:cNvPr id="18" name="Tune circle"/>
          <p:cNvSpPr/>
          <p:nvPr/>
        </p:nvSpPr>
        <p:spPr>
          <a:xfrm>
            <a:off x="5943600" y="1463040"/>
            <a:ext cx="685800" cy="685800"/>
          </a:xfrm>
          <a:prstGeom prst="ellipse">
            <a:avLst/>
          </a:prstGeom>
          <a:solidFill>
            <a:schemeClr val="accent1"/>
          </a:solidFill>
          <a:ln/>
        </p:spPr>
      </p:sp>
      <p:pic>
        <p:nvPicPr>
          <p:cNvPr id="19" name="Tune icon" descr="Tune">    </p:cNvPr>
          <p:cNvPicPr>
            <a:picLocks noChangeAspect="1"/>
          </p:cNvPicPr>
          <p:nvPr/>
        </p:nvPicPr>
        <p:blipFill>
          <a:blip r:embed="rId4"/>
          <a:stretch>
            <a:fillRect/>
          </a:stretch>
        </p:blipFill>
        <p:spPr>
          <a:xfrm>
            <a:off x="6128766" y="1648206"/>
            <a:ext cx="315468" cy="315468"/>
          </a:xfrm>
          <a:prstGeom prst="rect">
            <a:avLst/>
          </a:prstGeom>
        </p:spPr>
      </p:pic>
      <p:sp>
        <p:nvSpPr>
          <p:cNvPr id="20" name="Arrow 4"/>
          <p:cNvSpPr/>
          <p:nvPr/>
        </p:nvSpPr>
        <p:spPr>
          <a:xfrm>
            <a:off x="6720840" y="1805940"/>
            <a:ext cx="685800" cy="0"/>
          </a:xfrm>
          <a:prstGeom prst="line">
            <a:avLst/>
          </a:prstGeom>
          <a:noFill/>
          <a:ln w="25400">
            <a:solidFill>
              <a:schemeClr val="accent3"/>
            </a:solidFill>
            <a:prstDash val="solid"/>
            <a:tailEnd type="triangle"/>
          </a:ln>
        </p:spPr>
      </p:sp>
      <p:sp>
        <p:nvSpPr>
          <p:cNvPr id="21" name="Text 15"/>
          <p:cNvSpPr txBox="1"/>
          <p:nvPr/>
        </p:nvSpPr>
        <p:spPr>
          <a:xfrm>
            <a:off x="5532120" y="2331720"/>
            <a:ext cx="1508760" cy="320040"/>
          </a:xfrm>
          <a:prstGeom prst="rect">
            <a:avLst/>
          </a:prstGeom>
          <a:noFill/>
          <a:ln/>
        </p:spPr>
        <p:txBody>
          <a:bodyPr wrap="square" lIns="0" tIns="0" rIns="0" bIns="0" rtlCol="0" anchor="t"/>
          <a:lstStyle/>
          <a:p>
            <a:pPr algn="ctr" indent="0" marL="0">
              <a:buNone/>
            </a:pPr>
            <a:r>
              <a:rPr lang="en-US" sz="1600" b="1" dirty="0">
                <a:solidFill>
                  <a:schemeClr val="tx1"/>
                </a:solidFill>
              </a:rPr>
              <a:t>4. Tune</a:t>
            </a:r>
            <a:endParaRPr lang="en-US" sz="1600" dirty="0"/>
          </a:p>
        </p:txBody>
      </p:sp>
      <p:sp>
        <p:nvSpPr>
          <p:cNvPr id="22" name="Text 16"/>
          <p:cNvSpPr txBox="1"/>
          <p:nvPr/>
        </p:nvSpPr>
        <p:spPr>
          <a:xfrm>
            <a:off x="5532120" y="2697480"/>
            <a:ext cx="1508760" cy="731520"/>
          </a:xfrm>
          <a:prstGeom prst="rect">
            <a:avLst/>
          </a:prstGeom>
          <a:noFill/>
          <a:ln/>
        </p:spPr>
        <p:txBody>
          <a:bodyPr wrap="square" lIns="0" tIns="0" rIns="0" bIns="0" rtlCol="0" anchor="t"/>
          <a:lstStyle/>
          <a:p>
            <a:pPr algn="ctr" indent="0" marL="0">
              <a:buNone/>
            </a:pPr>
            <a:r>
              <a:rPr lang="en-US" sz="1400" dirty="0">
                <a:solidFill>
                  <a:schemeClr val="tx2"/>
                </a:solidFill>
              </a:rPr>
              <a:t>Random search, 3-fold cross-validation</a:t>
            </a:r>
            <a:endParaRPr lang="en-US" sz="1400" dirty="0"/>
          </a:p>
        </p:txBody>
      </p:sp>
      <p:sp>
        <p:nvSpPr>
          <p:cNvPr id="23" name="Deploy circle"/>
          <p:cNvSpPr/>
          <p:nvPr/>
        </p:nvSpPr>
        <p:spPr>
          <a:xfrm>
            <a:off x="7635240" y="1463040"/>
            <a:ext cx="685800" cy="685800"/>
          </a:xfrm>
          <a:prstGeom prst="ellipse">
            <a:avLst/>
          </a:prstGeom>
          <a:solidFill>
            <a:schemeClr val="accent2"/>
          </a:solidFill>
          <a:ln/>
        </p:spPr>
      </p:sp>
      <p:pic>
        <p:nvPicPr>
          <p:cNvPr id="24" name="Deploy icon" descr="Deploy">    </p:cNvPr>
          <p:cNvPicPr>
            <a:picLocks noChangeAspect="1"/>
          </p:cNvPicPr>
          <p:nvPr/>
        </p:nvPicPr>
        <p:blipFill>
          <a:blip r:embed="rId5"/>
          <a:stretch>
            <a:fillRect/>
          </a:stretch>
        </p:blipFill>
        <p:spPr>
          <a:xfrm>
            <a:off x="7820406" y="1648206"/>
            <a:ext cx="315468" cy="315468"/>
          </a:xfrm>
          <a:prstGeom prst="rect">
            <a:avLst/>
          </a:prstGeom>
        </p:spPr>
      </p:pic>
      <p:sp>
        <p:nvSpPr>
          <p:cNvPr id="25" name="Text 18"/>
          <p:cNvSpPr txBox="1"/>
          <p:nvPr/>
        </p:nvSpPr>
        <p:spPr>
          <a:xfrm>
            <a:off x="7223760" y="2331720"/>
            <a:ext cx="1508760" cy="320040"/>
          </a:xfrm>
          <a:prstGeom prst="rect">
            <a:avLst/>
          </a:prstGeom>
          <a:noFill/>
          <a:ln/>
        </p:spPr>
        <p:txBody>
          <a:bodyPr wrap="square" lIns="0" tIns="0" rIns="0" bIns="0" rtlCol="0" anchor="t"/>
          <a:lstStyle/>
          <a:p>
            <a:pPr algn="ctr" indent="0" marL="0">
              <a:buNone/>
            </a:pPr>
            <a:r>
              <a:rPr lang="en-US" sz="1600" b="1" dirty="0">
                <a:solidFill>
                  <a:schemeClr val="tx1"/>
                </a:solidFill>
              </a:rPr>
              <a:t>5. Deploy</a:t>
            </a:r>
            <a:endParaRPr lang="en-US" sz="1600" dirty="0"/>
          </a:p>
        </p:txBody>
      </p:sp>
      <p:sp>
        <p:nvSpPr>
          <p:cNvPr id="26" name="Text 19"/>
          <p:cNvSpPr txBox="1"/>
          <p:nvPr/>
        </p:nvSpPr>
        <p:spPr>
          <a:xfrm>
            <a:off x="7223760" y="2697480"/>
            <a:ext cx="1508760" cy="731520"/>
          </a:xfrm>
          <a:prstGeom prst="rect">
            <a:avLst/>
          </a:prstGeom>
          <a:noFill/>
          <a:ln/>
        </p:spPr>
        <p:txBody>
          <a:bodyPr wrap="square" lIns="0" tIns="0" rIns="0" bIns="0" rtlCol="0" anchor="t"/>
          <a:lstStyle/>
          <a:p>
            <a:pPr algn="ctr" indent="0" marL="0">
              <a:buNone/>
            </a:pPr>
            <a:r>
              <a:rPr lang="en-US" sz="1400" dirty="0">
                <a:solidFill>
                  <a:schemeClr val="tx2"/>
                </a:solidFill>
              </a:rPr>
              <a:t>Flask API and web page on Vercel</a:t>
            </a:r>
            <a:endParaRPr lang="en-US" sz="1400" dirty="0"/>
          </a:p>
        </p:txBody>
      </p:sp>
      <p:sp>
        <p:nvSpPr>
          <p:cNvPr id="27" name="Tools card"/>
          <p:cNvSpPr/>
          <p:nvPr/>
        </p:nvSpPr>
        <p:spPr>
          <a:xfrm>
            <a:off x="457200" y="3703320"/>
            <a:ext cx="8229600" cy="777240"/>
          </a:xfrm>
          <a:prstGeom prst="roundRect">
            <a:avLst>
              <a:gd name="adj" fmla="val 9412"/>
            </a:avLst>
          </a:prstGeom>
          <a:solidFill>
            <a:schemeClr val="bg2"/>
          </a:solidFill>
          <a:ln/>
        </p:spPr>
      </p:sp>
      <p:sp>
        <p:nvSpPr>
          <p:cNvPr id="28" name="Text 21"/>
          <p:cNvSpPr txBox="1"/>
          <p:nvPr/>
        </p:nvSpPr>
        <p:spPr>
          <a:xfrm>
            <a:off x="685800" y="3703320"/>
            <a:ext cx="7772400" cy="777240"/>
          </a:xfrm>
          <a:prstGeom prst="rect">
            <a:avLst/>
          </a:prstGeom>
          <a:noFill/>
          <a:ln/>
        </p:spPr>
        <p:txBody>
          <a:bodyPr wrap="square" lIns="0" tIns="0" rIns="0" bIns="0" rtlCol="0" anchor="ctr"/>
          <a:lstStyle/>
          <a:p>
            <a:pPr indent="0" marL="0">
              <a:buNone/>
            </a:pPr>
            <a:r>
              <a:rPr lang="en-US" sz="1400" b="1" dirty="0">
                <a:solidFill>
                  <a:schemeClr val="tx1"/>
                </a:solidFill>
              </a:rPr>
              <a:t>Tools  </a:t>
            </a:r>
            <a:pPr indent="0" marL="0">
              <a:buNone/>
            </a:pPr>
            <a:r>
              <a:rPr lang="en-US" sz="1400" dirty="0">
                <a:solidFill>
                  <a:schemeClr val="tx1"/>
                </a:solidFill>
              </a:rPr>
              <a:t>pandas, NumPy, Matplotlib, Seaborn, scikit-learn, joblib, Flask, Vercel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Random Forest performed best</a:t>
            </a:r>
            <a:endParaRPr lang="en-US" sz="3200" dirty="0"/>
          </a:p>
        </p:txBody>
      </p:sp>
      <p:graphicFrame>
        <p:nvGraphicFramePr>
          <p:cNvPr id="3" name="Model comparison chart" descr=""/>
          <p:cNvGraphicFramePr/>
          <p:nvPr/>
        </p:nvGraphicFramePr>
        <p:xfrm>
          <a:off x="365760" y="114300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4" name="Winner card"/>
          <p:cNvSpPr/>
          <p:nvPr/>
        </p:nvSpPr>
        <p:spPr>
          <a:xfrm>
            <a:off x="6035040" y="1280160"/>
            <a:ext cx="2651760" cy="3154680"/>
          </a:xfrm>
          <a:prstGeom prst="roundRect">
            <a:avLst>
              <a:gd name="adj" fmla="val 2759"/>
            </a:avLst>
          </a:prstGeom>
          <a:solidFill>
            <a:schemeClr val="bg2"/>
          </a:solidFill>
          <a:ln/>
        </p:spPr>
      </p:sp>
      <p:sp>
        <p:nvSpPr>
          <p:cNvPr id="5" name="Winner circle"/>
          <p:cNvSpPr/>
          <p:nvPr/>
        </p:nvSpPr>
        <p:spPr>
          <a:xfrm>
            <a:off x="6263640" y="1463040"/>
            <a:ext cx="502920" cy="502920"/>
          </a:xfrm>
          <a:prstGeom prst="ellipse">
            <a:avLst/>
          </a:prstGeom>
          <a:solidFill>
            <a:schemeClr val="accent2"/>
          </a:solidFill>
          <a:ln/>
        </p:spPr>
      </p:sp>
      <p:pic>
        <p:nvPicPr>
          <p:cNvPr id="6" name="Winner icon" descr="Winner">    </p:cNvPr>
          <p:cNvPicPr>
            <a:picLocks noChangeAspect="1"/>
          </p:cNvPicPr>
          <p:nvPr/>
        </p:nvPicPr>
        <p:blipFill>
          <a:blip r:embed="rId2"/>
          <a:stretch>
            <a:fillRect/>
          </a:stretch>
        </p:blipFill>
        <p:spPr>
          <a:xfrm>
            <a:off x="6399428" y="1598828"/>
            <a:ext cx="231343" cy="231343"/>
          </a:xfrm>
          <a:prstGeom prst="rect">
            <a:avLst/>
          </a:prstGeom>
        </p:spPr>
      </p:pic>
      <p:sp>
        <p:nvSpPr>
          <p:cNvPr id="7" name="Text 3"/>
          <p:cNvSpPr txBox="1"/>
          <p:nvPr/>
        </p:nvSpPr>
        <p:spPr>
          <a:xfrm>
            <a:off x="6263640" y="2103120"/>
            <a:ext cx="2240280" cy="320040"/>
          </a:xfrm>
          <a:prstGeom prst="rect">
            <a:avLst/>
          </a:prstGeom>
          <a:noFill/>
          <a:ln/>
        </p:spPr>
        <p:txBody>
          <a:bodyPr wrap="square" lIns="0" tIns="0" rIns="0" bIns="0" rtlCol="0" anchor="t"/>
          <a:lstStyle/>
          <a:p>
            <a:pPr indent="0" marL="0">
              <a:buNone/>
            </a:pPr>
            <a:r>
              <a:rPr lang="en-US" sz="1600" b="1" dirty="0">
                <a:solidFill>
                  <a:schemeClr val="tx1"/>
                </a:solidFill>
              </a:rPr>
              <a:t>Tuned settings</a:t>
            </a:r>
            <a:endParaRPr lang="en-US" sz="1600" dirty="0"/>
          </a:p>
        </p:txBody>
      </p:sp>
      <p:sp>
        <p:nvSpPr>
          <p:cNvPr id="8" name="Text 4"/>
          <p:cNvSpPr txBox="1"/>
          <p:nvPr/>
        </p:nvSpPr>
        <p:spPr>
          <a:xfrm>
            <a:off x="6263640" y="2468880"/>
            <a:ext cx="228600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200 trees</a:t>
            </a:r>
            <a:endParaRPr lang="en-US" sz="1400" dirty="0"/>
          </a:p>
          <a:p>
            <a:pPr marL="342900" indent="-342900">
              <a:spcAft>
                <a:spcPts val="400"/>
              </a:spcAft>
              <a:buSzPct val="100000"/>
              <a:buChar char="•"/>
            </a:pPr>
            <a:r>
              <a:rPr lang="en-US" sz="1400" dirty="0">
                <a:solidFill>
                  <a:schemeClr val="tx2"/>
                </a:solidFill>
              </a:rPr>
              <a:t>Max depth 14</a:t>
            </a:r>
            <a:endParaRPr lang="en-US" sz="1400" dirty="0"/>
          </a:p>
          <a:p>
            <a:pPr marL="342900" indent="-342900">
              <a:spcAft>
                <a:spcPts val="400"/>
              </a:spcAft>
              <a:buSzPct val="100000"/>
              <a:buChar char="•"/>
            </a:pPr>
            <a:r>
              <a:rPr lang="en-US" sz="1400" dirty="0">
                <a:solidFill>
                  <a:schemeClr val="tx2"/>
                </a:solidFill>
              </a:rPr>
              <a:t>Min 10 samples per leaf</a:t>
            </a:r>
            <a:endParaRPr lang="en-US" sz="1400" dirty="0"/>
          </a:p>
          <a:p>
            <a:pPr marL="342900" indent="-342900">
              <a:spcAft>
                <a:spcPts val="400"/>
              </a:spcAft>
              <a:buSzPct val="100000"/>
              <a:buChar char="•"/>
            </a:pPr>
            <a:r>
              <a:rPr lang="en-US" sz="1400" dirty="0">
                <a:solidFill>
                  <a:schemeClr val="tx2"/>
                </a:solidFill>
              </a:rPr>
              <a:t>50% of features per split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Final model results</a:t>
            </a:r>
            <a:endParaRPr lang="en-US" sz="3200" dirty="0"/>
          </a:p>
        </p:txBody>
      </p:sp>
      <p:sp>
        <p:nvSpPr>
          <p:cNvPr id="3" name="Text 1"/>
          <p:cNvSpPr txBox="1"/>
          <p:nvPr/>
        </p:nvSpPr>
        <p:spPr>
          <a:xfrm>
            <a:off x="457200" y="1234440"/>
            <a:ext cx="20116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68.8%</a:t>
            </a:r>
            <a:endParaRPr lang="en-US" sz="3600" dirty="0"/>
          </a:p>
        </p:txBody>
      </p:sp>
      <p:sp>
        <p:nvSpPr>
          <p:cNvPr id="4" name="Text 2"/>
          <p:cNvSpPr txBox="1"/>
          <p:nvPr/>
        </p:nvSpPr>
        <p:spPr>
          <a:xfrm>
            <a:off x="457200" y="1892808"/>
            <a:ext cx="2011680" cy="457200"/>
          </a:xfrm>
          <a:prstGeom prst="rect">
            <a:avLst/>
          </a:prstGeom>
          <a:noFill/>
          <a:ln/>
        </p:spPr>
        <p:txBody>
          <a:bodyPr wrap="square" lIns="0" tIns="0" rIns="0" bIns="0" rtlCol="0" anchor="t"/>
          <a:lstStyle/>
          <a:p>
            <a:pPr indent="0" marL="0">
              <a:buNone/>
            </a:pPr>
            <a:r>
              <a:rPr lang="en-US" sz="1400" dirty="0">
                <a:solidFill>
                  <a:schemeClr val="tx2"/>
                </a:solidFill>
              </a:rPr>
              <a:t>accuracy</a:t>
            </a:r>
            <a:endParaRPr lang="en-US" sz="1400" dirty="0"/>
          </a:p>
        </p:txBody>
      </p:sp>
      <p:sp>
        <p:nvSpPr>
          <p:cNvPr id="5" name="Text 3"/>
          <p:cNvSpPr txBox="1"/>
          <p:nvPr/>
        </p:nvSpPr>
        <p:spPr>
          <a:xfrm>
            <a:off x="2606040" y="1234440"/>
            <a:ext cx="20116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0.45</a:t>
            </a:r>
            <a:endParaRPr lang="en-US" sz="3600" dirty="0"/>
          </a:p>
        </p:txBody>
      </p:sp>
      <p:sp>
        <p:nvSpPr>
          <p:cNvPr id="6" name="Text 4"/>
          <p:cNvSpPr txBox="1"/>
          <p:nvPr/>
        </p:nvSpPr>
        <p:spPr>
          <a:xfrm>
            <a:off x="2606040" y="1892808"/>
            <a:ext cx="2011680" cy="457200"/>
          </a:xfrm>
          <a:prstGeom prst="rect">
            <a:avLst/>
          </a:prstGeom>
          <a:noFill/>
          <a:ln/>
        </p:spPr>
        <p:txBody>
          <a:bodyPr wrap="square" lIns="0" tIns="0" rIns="0" bIns="0" rtlCol="0" anchor="t"/>
          <a:lstStyle/>
          <a:p>
            <a:pPr indent="0" marL="0">
              <a:buNone/>
            </a:pPr>
            <a:r>
              <a:rPr lang="en-US" sz="1400" dirty="0">
                <a:solidFill>
                  <a:schemeClr val="tx2"/>
                </a:solidFill>
              </a:rPr>
              <a:t>macro F1</a:t>
            </a:r>
            <a:endParaRPr lang="en-US" sz="1400" dirty="0"/>
          </a:p>
        </p:txBody>
      </p:sp>
      <p:sp>
        <p:nvSpPr>
          <p:cNvPr id="7" name="Text 5"/>
          <p:cNvSpPr txBox="1"/>
          <p:nvPr/>
        </p:nvSpPr>
        <p:spPr>
          <a:xfrm>
            <a:off x="457200" y="2651760"/>
            <a:ext cx="201168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40%</a:t>
            </a:r>
            <a:endParaRPr lang="en-US" sz="3600" dirty="0"/>
          </a:p>
        </p:txBody>
      </p:sp>
      <p:sp>
        <p:nvSpPr>
          <p:cNvPr id="8" name="Text 6"/>
          <p:cNvSpPr txBox="1"/>
          <p:nvPr/>
        </p:nvSpPr>
        <p:spPr>
          <a:xfrm>
            <a:off x="457200" y="3310128"/>
            <a:ext cx="2011680" cy="457200"/>
          </a:xfrm>
          <a:prstGeom prst="rect">
            <a:avLst/>
          </a:prstGeom>
          <a:noFill/>
          <a:ln/>
        </p:spPr>
        <p:txBody>
          <a:bodyPr wrap="square" lIns="0" tIns="0" rIns="0" bIns="0" rtlCol="0" anchor="t"/>
          <a:lstStyle/>
          <a:p>
            <a:pPr indent="0" marL="0">
              <a:buNone/>
            </a:pPr>
            <a:r>
              <a:rPr lang="en-US" sz="1400" dirty="0">
                <a:solidFill>
                  <a:schemeClr val="tx2"/>
                </a:solidFill>
              </a:rPr>
              <a:t>of reads caught</a:t>
            </a:r>
            <a:endParaRPr lang="en-US" sz="1400" dirty="0"/>
          </a:p>
        </p:txBody>
      </p:sp>
      <p:sp>
        <p:nvSpPr>
          <p:cNvPr id="9" name="Text 7"/>
          <p:cNvSpPr txBox="1"/>
          <p:nvPr/>
        </p:nvSpPr>
        <p:spPr>
          <a:xfrm>
            <a:off x="2606040" y="2651760"/>
            <a:ext cx="201168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38%</a:t>
            </a:r>
            <a:endParaRPr lang="en-US" sz="3600" dirty="0"/>
          </a:p>
        </p:txBody>
      </p:sp>
      <p:sp>
        <p:nvSpPr>
          <p:cNvPr id="10" name="Text 8"/>
          <p:cNvSpPr txBox="1"/>
          <p:nvPr/>
        </p:nvSpPr>
        <p:spPr>
          <a:xfrm>
            <a:off x="2606040" y="3310128"/>
            <a:ext cx="2011680" cy="457200"/>
          </a:xfrm>
          <a:prstGeom prst="rect">
            <a:avLst/>
          </a:prstGeom>
          <a:noFill/>
          <a:ln/>
        </p:spPr>
        <p:txBody>
          <a:bodyPr wrap="square" lIns="0" tIns="0" rIns="0" bIns="0" rtlCol="0" anchor="t"/>
          <a:lstStyle/>
          <a:p>
            <a:pPr indent="0" marL="0">
              <a:buNone/>
            </a:pPr>
            <a:r>
              <a:rPr lang="en-US" sz="1400" dirty="0">
                <a:solidFill>
                  <a:schemeClr val="tx2"/>
                </a:solidFill>
              </a:rPr>
              <a:t>of acknowledgements caught</a:t>
            </a:r>
            <a:endParaRPr lang="en-US" sz="1400" dirty="0"/>
          </a:p>
        </p:txBody>
      </p:sp>
      <p:sp>
        <p:nvSpPr>
          <p:cNvPr id="11" name="Text 9"/>
          <p:cNvSpPr txBox="1"/>
          <p:nvPr/>
        </p:nvSpPr>
        <p:spPr>
          <a:xfrm>
            <a:off x="4937760" y="1234440"/>
            <a:ext cx="3749040" cy="274320"/>
          </a:xfrm>
          <a:prstGeom prst="rect">
            <a:avLst/>
          </a:prstGeom>
          <a:noFill/>
          <a:ln/>
        </p:spPr>
        <p:txBody>
          <a:bodyPr wrap="square" lIns="0" tIns="0" rIns="0" bIns="0" rtlCol="0" anchor="t"/>
          <a:lstStyle/>
          <a:p>
            <a:pPr indent="0" marL="0">
              <a:buNone/>
            </a:pPr>
            <a:r>
              <a:rPr lang="en-US" sz="1200" dirty="0">
                <a:solidFill>
                  <a:schemeClr val="tx2"/>
                </a:solidFill>
              </a:rPr>
              <a:t>Confusion matrix · test set (13,671 emails)</a:t>
            </a:r>
            <a:endParaRPr lang="en-US" sz="1200" dirty="0"/>
          </a:p>
        </p:txBody>
      </p:sp>
      <p:graphicFrame>
        <p:nvGraphicFramePr>
          <p:cNvPr id="11" name="Confusion matrix"/>
          <p:cNvGraphicFramePr>
            <a:graphicFrameLocks noGrp="1"/>
          </p:cNvGraphicFramePr>
          <p:nvPr>
            <p:extLst>
              <p:ext uri="{D42A27DB-BD31-4B8C-83A1-F6EECF244321}">
                <p14:modId xmlns:p14="http://schemas.microsoft.com/office/powerpoint/2010/main" val="1579011935"/>
              </p:ext>
            </p:extLst>
          </p:nvPr>
        </p:nvGraphicFramePr>
        <p:xfrm>
          <a:off x="4937760" y="1600200"/>
          <a:ext cx="3749040" cy="914400"/>
        </p:xfrm>
        <a:graphic>
          <a:graphicData uri="http://schemas.openxmlformats.org/drawingml/2006/table">
            <a:tbl>
              <a:tblPr/>
              <a:tblGrid>
                <a:gridCol w="1325880"/>
                <a:gridCol w="868680"/>
                <a:gridCol w="777240"/>
                <a:gridCol w="777240"/>
              </a:tblGrid>
              <a:tr h="457200">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Actual ↓ / Predicted →</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Ignored</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Read</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Ack.</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Ignored</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8,342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1,879</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767</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Read</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789</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885</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534</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Acknowledged</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108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179</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r>
            </a:tbl>
          </a:graphicData>
        </a:graphic>
      </p:graphicFrame>
      <p:sp>
        <p:nvSpPr>
          <p:cNvPr id="13" name="Text 10"/>
          <p:cNvSpPr txBox="1"/>
          <p:nvPr/>
        </p:nvSpPr>
        <p:spPr>
          <a:xfrm>
            <a:off x="4937760" y="3611880"/>
            <a:ext cx="3749040" cy="777240"/>
          </a:xfrm>
          <a:prstGeom prst="rect">
            <a:avLst/>
          </a:prstGeom>
          <a:noFill/>
          <a:ln/>
        </p:spPr>
        <p:txBody>
          <a:bodyPr wrap="square" lIns="0" tIns="0" rIns="0" bIns="0" rtlCol="0" anchor="t"/>
          <a:lstStyle/>
          <a:p>
            <a:pPr indent="0" marL="0">
              <a:buNone/>
            </a:pPr>
            <a:r>
              <a:rPr lang="en-US" sz="1400" dirty="0">
                <a:solidFill>
                  <a:schemeClr val="tx2"/>
                </a:solidFill>
              </a:rPr>
              <a:t>Random guessing would score about 0.33 macro F1. Rare outcomes stay hard to predict from these features alone.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What drives engagement</a:t>
            </a:r>
            <a:endParaRPr lang="en-US" sz="3200" dirty="0"/>
          </a:p>
        </p:txBody>
      </p:sp>
      <p:graphicFrame>
        <p:nvGraphicFramePr>
          <p:cNvPr id="3" name="Feature importance chart" descr=""/>
          <p:cNvGraphicFramePr/>
          <p:nvPr/>
        </p:nvGraphicFramePr>
        <p:xfrm>
          <a:off x="365760" y="114300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Reading the chart card"/>
          <p:cNvSpPr/>
          <p:nvPr/>
        </p:nvSpPr>
        <p:spPr>
          <a:xfrm>
            <a:off x="5760720" y="1280160"/>
            <a:ext cx="2926080" cy="3154680"/>
          </a:xfrm>
          <a:prstGeom prst="roundRect">
            <a:avLst>
              <a:gd name="adj" fmla="val 2500"/>
            </a:avLst>
          </a:prstGeom>
          <a:solidFill>
            <a:schemeClr val="bg2"/>
          </a:solidFill>
          <a:ln/>
        </p:spPr>
      </p:sp>
      <p:sp>
        <p:nvSpPr>
          <p:cNvPr id="5" name="Permutation importance circle"/>
          <p:cNvSpPr/>
          <p:nvPr/>
        </p:nvSpPr>
        <p:spPr>
          <a:xfrm>
            <a:off x="5989320" y="1463040"/>
            <a:ext cx="502920" cy="502920"/>
          </a:xfrm>
          <a:prstGeom prst="ellipse">
            <a:avLst/>
          </a:prstGeom>
          <a:solidFill>
            <a:schemeClr val="accent1"/>
          </a:solidFill>
          <a:ln/>
        </p:spPr>
      </p:sp>
      <p:pic>
        <p:nvPicPr>
          <p:cNvPr id="6" name="Permutation importance icon" descr="Permutation importance">    </p:cNvPr>
          <p:cNvPicPr>
            <a:picLocks noChangeAspect="1"/>
          </p:cNvPicPr>
          <p:nvPr/>
        </p:nvPicPr>
        <p:blipFill>
          <a:blip r:embed="rId2"/>
          <a:stretch>
            <a:fillRect/>
          </a:stretch>
        </p:blipFill>
        <p:spPr>
          <a:xfrm>
            <a:off x="6125108" y="1598828"/>
            <a:ext cx="231343" cy="231343"/>
          </a:xfrm>
          <a:prstGeom prst="rect">
            <a:avLst/>
          </a:prstGeom>
        </p:spPr>
      </p:pic>
      <p:sp>
        <p:nvSpPr>
          <p:cNvPr id="7" name="Text 3"/>
          <p:cNvSpPr txBox="1"/>
          <p:nvPr/>
        </p:nvSpPr>
        <p:spPr>
          <a:xfrm>
            <a:off x="5989320" y="2103120"/>
            <a:ext cx="2514600" cy="320040"/>
          </a:xfrm>
          <a:prstGeom prst="rect">
            <a:avLst/>
          </a:prstGeom>
          <a:noFill/>
          <a:ln/>
        </p:spPr>
        <p:txBody>
          <a:bodyPr wrap="square" lIns="0" tIns="0" rIns="0" bIns="0" rtlCol="0" anchor="t"/>
          <a:lstStyle/>
          <a:p>
            <a:pPr indent="0" marL="0">
              <a:buNone/>
            </a:pPr>
            <a:r>
              <a:rPr lang="en-US" sz="1600" b="1" dirty="0">
                <a:solidFill>
                  <a:schemeClr val="tx1"/>
                </a:solidFill>
              </a:rPr>
              <a:t>Three features matter</a:t>
            </a:r>
            <a:endParaRPr lang="en-US" sz="1600" dirty="0"/>
          </a:p>
        </p:txBody>
      </p:sp>
      <p:sp>
        <p:nvSpPr>
          <p:cNvPr id="8" name="Text 4"/>
          <p:cNvSpPr txBox="1"/>
          <p:nvPr/>
        </p:nvSpPr>
        <p:spPr>
          <a:xfrm>
            <a:off x="5989320" y="2468880"/>
            <a:ext cx="2514600" cy="1828800"/>
          </a:xfrm>
          <a:prstGeom prst="rect">
            <a:avLst/>
          </a:prstGeom>
          <a:noFill/>
          <a:ln/>
        </p:spPr>
        <p:txBody>
          <a:bodyPr wrap="square" lIns="0" tIns="0" rIns="0" bIns="0" rtlCol="0" anchor="t"/>
          <a:lstStyle/>
          <a:p>
            <a:pPr indent="0" marL="0">
              <a:buNone/>
            </a:pPr>
            <a:r>
              <a:rPr lang="en-US" sz="1400" dirty="0">
                <a:solidFill>
                  <a:schemeClr val="tx2"/>
                </a:solidFill>
              </a:rPr>
              <a:t>Campaign type, relationship history and email length carry most of the signal. Time sent, email type and location barely change the prediction.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Recommendations</a:t>
            </a:r>
            <a:endParaRPr lang="en-US" sz="3200" dirty="0"/>
          </a:p>
        </p:txBody>
      </p:sp>
      <p:sp>
        <p:nvSpPr>
          <p:cNvPr id="3" name="Nurture before selling card"/>
          <p:cNvSpPr/>
          <p:nvPr/>
        </p:nvSpPr>
        <p:spPr>
          <a:xfrm>
            <a:off x="457200" y="1188720"/>
            <a:ext cx="4023360" cy="1508760"/>
          </a:xfrm>
          <a:prstGeom prst="roundRect">
            <a:avLst>
              <a:gd name="adj" fmla="val 4848"/>
            </a:avLst>
          </a:prstGeom>
          <a:solidFill>
            <a:schemeClr val="bg2"/>
          </a:solidFill>
          <a:ln/>
        </p:spPr>
      </p:sp>
      <p:sp>
        <p:nvSpPr>
          <p:cNvPr id="4" name="Nurture before selling circle"/>
          <p:cNvSpPr/>
          <p:nvPr/>
        </p:nvSpPr>
        <p:spPr>
          <a:xfrm>
            <a:off x="685800" y="1417320"/>
            <a:ext cx="548640" cy="548640"/>
          </a:xfrm>
          <a:prstGeom prst="ellipse">
            <a:avLst/>
          </a:prstGeom>
          <a:solidFill>
            <a:schemeClr val="accent1"/>
          </a:solidFill>
          <a:ln/>
        </p:spPr>
      </p:sp>
      <p:pic>
        <p:nvPicPr>
          <p:cNvPr id="5" name="Nurture before selling icon" descr="Nurture before selling">    </p:cNvPr>
          <p:cNvPicPr>
            <a:picLocks noChangeAspect="1"/>
          </p:cNvPicPr>
          <p:nvPr/>
        </p:nvPicPr>
        <p:blipFill>
          <a:blip r:embed="rId1"/>
          <a:stretch>
            <a:fillRect/>
          </a:stretch>
        </p:blipFill>
        <p:spPr>
          <a:xfrm>
            <a:off x="833933" y="1565453"/>
            <a:ext cx="252374" cy="252374"/>
          </a:xfrm>
          <a:prstGeom prst="rect">
            <a:avLst/>
          </a:prstGeom>
        </p:spPr>
      </p:pic>
      <p:sp>
        <p:nvSpPr>
          <p:cNvPr id="6" name="Text 3"/>
          <p:cNvSpPr txBox="1"/>
          <p:nvPr/>
        </p:nvSpPr>
        <p:spPr>
          <a:xfrm>
            <a:off x="1417320" y="1389888"/>
            <a:ext cx="2880360" cy="320040"/>
          </a:xfrm>
          <a:prstGeom prst="rect">
            <a:avLst/>
          </a:prstGeom>
          <a:noFill/>
          <a:ln/>
        </p:spPr>
        <p:txBody>
          <a:bodyPr wrap="square" lIns="0" tIns="0" rIns="0" bIns="0" rtlCol="0" anchor="t"/>
          <a:lstStyle/>
          <a:p>
            <a:pPr indent="0" marL="0">
              <a:buNone/>
            </a:pPr>
            <a:r>
              <a:rPr lang="en-US" sz="1600" b="1" dirty="0">
                <a:solidFill>
                  <a:schemeClr val="tx1"/>
                </a:solidFill>
              </a:rPr>
              <a:t>Nurture before selling</a:t>
            </a:r>
            <a:endParaRPr lang="en-US" sz="1600" dirty="0"/>
          </a:p>
        </p:txBody>
      </p:sp>
      <p:sp>
        <p:nvSpPr>
          <p:cNvPr id="7" name="Text 4"/>
          <p:cNvSpPr txBox="1"/>
          <p:nvPr/>
        </p:nvSpPr>
        <p:spPr>
          <a:xfrm>
            <a:off x="1417320" y="1737360"/>
            <a:ext cx="2880360" cy="868680"/>
          </a:xfrm>
          <a:prstGeom prst="rect">
            <a:avLst/>
          </a:prstGeom>
          <a:noFill/>
          <a:ln/>
        </p:spPr>
        <p:txBody>
          <a:bodyPr wrap="square" lIns="0" tIns="0" rIns="0" bIns="0" rtlCol="0" anchor="t"/>
          <a:lstStyle/>
          <a:p>
            <a:pPr indent="0" marL="0">
              <a:buNone/>
            </a:pPr>
            <a:r>
              <a:rPr lang="en-US" sz="1400" dirty="0">
                <a:solidFill>
                  <a:schemeClr val="tx2"/>
                </a:solidFill>
              </a:rPr>
              <a:t>Engagement rises with past communications. Warm up new contacts with lighter emails first.</a:t>
            </a:r>
            <a:endParaRPr lang="en-US" sz="1400" dirty="0"/>
          </a:p>
        </p:txBody>
      </p:sp>
      <p:sp>
        <p:nvSpPr>
          <p:cNvPr id="8" name="Review type 2 campaigns card"/>
          <p:cNvSpPr/>
          <p:nvPr/>
        </p:nvSpPr>
        <p:spPr>
          <a:xfrm>
            <a:off x="4663440" y="1188720"/>
            <a:ext cx="4023360" cy="1508760"/>
          </a:xfrm>
          <a:prstGeom prst="roundRect">
            <a:avLst>
              <a:gd name="adj" fmla="val 4848"/>
            </a:avLst>
          </a:prstGeom>
          <a:solidFill>
            <a:schemeClr val="bg2"/>
          </a:solidFill>
          <a:ln/>
        </p:spPr>
      </p:sp>
      <p:sp>
        <p:nvSpPr>
          <p:cNvPr id="9" name="Review type 2 campaigns circle"/>
          <p:cNvSpPr/>
          <p:nvPr/>
        </p:nvSpPr>
        <p:spPr>
          <a:xfrm>
            <a:off x="4892040" y="1417320"/>
            <a:ext cx="548640" cy="548640"/>
          </a:xfrm>
          <a:prstGeom prst="ellipse">
            <a:avLst/>
          </a:prstGeom>
          <a:solidFill>
            <a:schemeClr val="accent1"/>
          </a:solidFill>
          <a:ln/>
        </p:spPr>
      </p:sp>
      <p:pic>
        <p:nvPicPr>
          <p:cNvPr id="10" name="Review type 2 campaigns icon" descr="Review type 2 campaigns">    </p:cNvPr>
          <p:cNvPicPr>
            <a:picLocks noChangeAspect="1"/>
          </p:cNvPicPr>
          <p:nvPr/>
        </p:nvPicPr>
        <p:blipFill>
          <a:blip r:embed="rId2"/>
          <a:stretch>
            <a:fillRect/>
          </a:stretch>
        </p:blipFill>
        <p:spPr>
          <a:xfrm>
            <a:off x="5040173" y="1565453"/>
            <a:ext cx="252374" cy="252374"/>
          </a:xfrm>
          <a:prstGeom prst="rect">
            <a:avLst/>
          </a:prstGeom>
        </p:spPr>
      </p:pic>
      <p:sp>
        <p:nvSpPr>
          <p:cNvPr id="11" name="Text 7"/>
          <p:cNvSpPr txBox="1"/>
          <p:nvPr/>
        </p:nvSpPr>
        <p:spPr>
          <a:xfrm>
            <a:off x="5623560" y="1389888"/>
            <a:ext cx="2880360" cy="320040"/>
          </a:xfrm>
          <a:prstGeom prst="rect">
            <a:avLst/>
          </a:prstGeom>
          <a:noFill/>
          <a:ln/>
        </p:spPr>
        <p:txBody>
          <a:bodyPr wrap="square" lIns="0" tIns="0" rIns="0" bIns="0" rtlCol="0" anchor="t"/>
          <a:lstStyle/>
          <a:p>
            <a:pPr indent="0" marL="0">
              <a:buNone/>
            </a:pPr>
            <a:r>
              <a:rPr lang="en-US" sz="1600" b="1" dirty="0">
                <a:solidFill>
                  <a:schemeClr val="tx1"/>
                </a:solidFill>
              </a:rPr>
              <a:t>Review type 2 campaigns</a:t>
            </a:r>
            <a:endParaRPr lang="en-US" sz="1600" dirty="0"/>
          </a:p>
        </p:txBody>
      </p:sp>
      <p:sp>
        <p:nvSpPr>
          <p:cNvPr id="12" name="Text 8"/>
          <p:cNvSpPr txBox="1"/>
          <p:nvPr/>
        </p:nvSpPr>
        <p:spPr>
          <a:xfrm>
            <a:off x="5623560" y="1737360"/>
            <a:ext cx="2880360" cy="868680"/>
          </a:xfrm>
          <a:prstGeom prst="rect">
            <a:avLst/>
          </a:prstGeom>
          <a:noFill/>
          <a:ln/>
        </p:spPr>
        <p:txBody>
          <a:bodyPr wrap="square" lIns="0" tIns="0" rIns="0" bIns="0" rtlCol="0" anchor="t"/>
          <a:lstStyle/>
          <a:p>
            <a:pPr indent="0" marL="0">
              <a:buNone/>
            </a:pPr>
            <a:r>
              <a:rPr lang="en-US" sz="1400" dirty="0">
                <a:solidFill>
                  <a:schemeClr val="tx2"/>
                </a:solidFill>
              </a:rPr>
              <a:t>71% of volume, 87% ignored. Test what makes type 1 work and apply it.</a:t>
            </a:r>
            <a:endParaRPr lang="en-US" sz="1400" dirty="0"/>
          </a:p>
        </p:txBody>
      </p:sp>
      <p:sp>
        <p:nvSpPr>
          <p:cNvPr id="13" name="Keep emails shorter card"/>
          <p:cNvSpPr/>
          <p:nvPr/>
        </p:nvSpPr>
        <p:spPr>
          <a:xfrm>
            <a:off x="457200" y="2880360"/>
            <a:ext cx="4023360" cy="1508760"/>
          </a:xfrm>
          <a:prstGeom prst="roundRect">
            <a:avLst>
              <a:gd name="adj" fmla="val 4848"/>
            </a:avLst>
          </a:prstGeom>
          <a:solidFill>
            <a:schemeClr val="bg2"/>
          </a:solidFill>
          <a:ln/>
        </p:spPr>
      </p:sp>
      <p:sp>
        <p:nvSpPr>
          <p:cNvPr id="14" name="Keep emails shorter circle"/>
          <p:cNvSpPr/>
          <p:nvPr/>
        </p:nvSpPr>
        <p:spPr>
          <a:xfrm>
            <a:off x="685800" y="3108960"/>
            <a:ext cx="548640" cy="548640"/>
          </a:xfrm>
          <a:prstGeom prst="ellipse">
            <a:avLst/>
          </a:prstGeom>
          <a:solidFill>
            <a:schemeClr val="accent1"/>
          </a:solidFill>
          <a:ln/>
        </p:spPr>
      </p:sp>
      <p:pic>
        <p:nvPicPr>
          <p:cNvPr id="15" name="Keep emails shorter icon" descr="Keep emails shorter">    </p:cNvPr>
          <p:cNvPicPr>
            <a:picLocks noChangeAspect="1"/>
          </p:cNvPicPr>
          <p:nvPr/>
        </p:nvPicPr>
        <p:blipFill>
          <a:blip r:embed="rId3"/>
          <a:stretch>
            <a:fillRect/>
          </a:stretch>
        </p:blipFill>
        <p:spPr>
          <a:xfrm>
            <a:off x="833933" y="3257093"/>
            <a:ext cx="252374" cy="252374"/>
          </a:xfrm>
          <a:prstGeom prst="rect">
            <a:avLst/>
          </a:prstGeom>
        </p:spPr>
      </p:pic>
      <p:sp>
        <p:nvSpPr>
          <p:cNvPr id="16" name="Text 11"/>
          <p:cNvSpPr txBox="1"/>
          <p:nvPr/>
        </p:nvSpPr>
        <p:spPr>
          <a:xfrm>
            <a:off x="1417320" y="3081528"/>
            <a:ext cx="2880360" cy="320040"/>
          </a:xfrm>
          <a:prstGeom prst="rect">
            <a:avLst/>
          </a:prstGeom>
          <a:noFill/>
          <a:ln/>
        </p:spPr>
        <p:txBody>
          <a:bodyPr wrap="square" lIns="0" tIns="0" rIns="0" bIns="0" rtlCol="0" anchor="t"/>
          <a:lstStyle/>
          <a:p>
            <a:pPr indent="0" marL="0">
              <a:buNone/>
            </a:pPr>
            <a:r>
              <a:rPr lang="en-US" sz="1600" b="1" dirty="0">
                <a:solidFill>
                  <a:schemeClr val="tx1"/>
                </a:solidFill>
              </a:rPr>
              <a:t>Keep emails shorter</a:t>
            </a:r>
            <a:endParaRPr lang="en-US" sz="1600" dirty="0"/>
          </a:p>
        </p:txBody>
      </p:sp>
      <p:sp>
        <p:nvSpPr>
          <p:cNvPr id="17" name="Text 12"/>
          <p:cNvSpPr txBox="1"/>
          <p:nvPr/>
        </p:nvSpPr>
        <p:spPr>
          <a:xfrm>
            <a:off x="1417320" y="3429000"/>
            <a:ext cx="2880360" cy="868680"/>
          </a:xfrm>
          <a:prstGeom prst="rect">
            <a:avLst/>
          </a:prstGeom>
          <a:noFill/>
          <a:ln/>
        </p:spPr>
        <p:txBody>
          <a:bodyPr wrap="square" lIns="0" tIns="0" rIns="0" bIns="0" rtlCol="0" anchor="t"/>
          <a:lstStyle/>
          <a:p>
            <a:pPr indent="0" marL="0">
              <a:buNone/>
            </a:pPr>
            <a:r>
              <a:rPr lang="en-US" sz="1400" dirty="0">
                <a:solidFill>
                  <a:schemeClr val="tx2"/>
                </a:solidFill>
              </a:rPr>
              <a:t>Read and acknowledged emails average 100+ fewer words than ignored ones.</a:t>
            </a:r>
            <a:endParaRPr lang="en-US" sz="1400" dirty="0"/>
          </a:p>
        </p:txBody>
      </p:sp>
      <p:sp>
        <p:nvSpPr>
          <p:cNvPr id="18" name="Score before sending card"/>
          <p:cNvSpPr/>
          <p:nvPr/>
        </p:nvSpPr>
        <p:spPr>
          <a:xfrm>
            <a:off x="4663440" y="2880360"/>
            <a:ext cx="4023360" cy="1508760"/>
          </a:xfrm>
          <a:prstGeom prst="roundRect">
            <a:avLst>
              <a:gd name="adj" fmla="val 4848"/>
            </a:avLst>
          </a:prstGeom>
          <a:solidFill>
            <a:schemeClr val="bg2"/>
          </a:solidFill>
          <a:ln/>
        </p:spPr>
      </p:sp>
      <p:sp>
        <p:nvSpPr>
          <p:cNvPr id="19" name="Score before sending circle"/>
          <p:cNvSpPr/>
          <p:nvPr/>
        </p:nvSpPr>
        <p:spPr>
          <a:xfrm>
            <a:off x="4892040" y="3108960"/>
            <a:ext cx="548640" cy="548640"/>
          </a:xfrm>
          <a:prstGeom prst="ellipse">
            <a:avLst/>
          </a:prstGeom>
          <a:solidFill>
            <a:schemeClr val="accent2"/>
          </a:solidFill>
          <a:ln/>
        </p:spPr>
      </p:sp>
      <p:pic>
        <p:nvPicPr>
          <p:cNvPr id="20" name="Score before sending icon" descr="Score before sending">    </p:cNvPr>
          <p:cNvPicPr>
            <a:picLocks noChangeAspect="1"/>
          </p:cNvPicPr>
          <p:nvPr/>
        </p:nvPicPr>
        <p:blipFill>
          <a:blip r:embed="rId4"/>
          <a:stretch>
            <a:fillRect/>
          </a:stretch>
        </p:blipFill>
        <p:spPr>
          <a:xfrm>
            <a:off x="5040173" y="3257093"/>
            <a:ext cx="252374" cy="252374"/>
          </a:xfrm>
          <a:prstGeom prst="rect">
            <a:avLst/>
          </a:prstGeom>
        </p:spPr>
      </p:pic>
      <p:sp>
        <p:nvSpPr>
          <p:cNvPr id="21" name="Text 15"/>
          <p:cNvSpPr txBox="1"/>
          <p:nvPr/>
        </p:nvSpPr>
        <p:spPr>
          <a:xfrm>
            <a:off x="5623560" y="3081528"/>
            <a:ext cx="2880360" cy="320040"/>
          </a:xfrm>
          <a:prstGeom prst="rect">
            <a:avLst/>
          </a:prstGeom>
          <a:noFill/>
          <a:ln/>
        </p:spPr>
        <p:txBody>
          <a:bodyPr wrap="square" lIns="0" tIns="0" rIns="0" bIns="0" rtlCol="0" anchor="t"/>
          <a:lstStyle/>
          <a:p>
            <a:pPr indent="0" marL="0">
              <a:buNone/>
            </a:pPr>
            <a:r>
              <a:rPr lang="en-US" sz="1600" b="1" dirty="0">
                <a:solidFill>
                  <a:schemeClr val="tx1"/>
                </a:solidFill>
              </a:rPr>
              <a:t>Score before sending</a:t>
            </a:r>
            <a:endParaRPr lang="en-US" sz="1600" dirty="0"/>
          </a:p>
        </p:txBody>
      </p:sp>
      <p:sp>
        <p:nvSpPr>
          <p:cNvPr id="22" name="Text 16"/>
          <p:cNvSpPr txBox="1"/>
          <p:nvPr/>
        </p:nvSpPr>
        <p:spPr>
          <a:xfrm>
            <a:off x="5623560" y="3429000"/>
            <a:ext cx="2880360" cy="868680"/>
          </a:xfrm>
          <a:prstGeom prst="rect">
            <a:avLst/>
          </a:prstGeom>
          <a:noFill/>
          <a:ln/>
        </p:spPr>
        <p:txBody>
          <a:bodyPr wrap="square" lIns="0" tIns="0" rIns="0" bIns="0" rtlCol="0" anchor="t"/>
          <a:lstStyle/>
          <a:p>
            <a:pPr indent="0" marL="0">
              <a:buNone/>
            </a:pPr>
            <a:r>
              <a:rPr lang="en-US" sz="1400" dirty="0">
                <a:solidFill>
                  <a:schemeClr val="tx2"/>
                </a:solidFill>
              </a:rPr>
              <a:t>Use the deployed model to flag emails likely to be ignored and revise them.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tx1"/>
                </a:solidFill>
              </a:rPr>
              <a:t>Deployed as a live web app</a:t>
            </a:r>
            <a:endParaRPr lang="en-US" sz="3200" dirty="0"/>
          </a:p>
        </p:txBody>
      </p:sp>
      <p:sp>
        <p:nvSpPr>
          <p:cNvPr id="3" name="Web page card"/>
          <p:cNvSpPr/>
          <p:nvPr/>
        </p:nvSpPr>
        <p:spPr>
          <a:xfrm>
            <a:off x="457200" y="1325880"/>
            <a:ext cx="1874520" cy="1920240"/>
          </a:xfrm>
          <a:prstGeom prst="roundRect">
            <a:avLst>
              <a:gd name="adj" fmla="val 3902"/>
            </a:avLst>
          </a:prstGeom>
          <a:solidFill>
            <a:schemeClr val="bg2"/>
          </a:solidFill>
          <a:ln/>
        </p:spPr>
      </p:sp>
      <p:sp>
        <p:nvSpPr>
          <p:cNvPr id="4" name="Web page circle"/>
          <p:cNvSpPr/>
          <p:nvPr/>
        </p:nvSpPr>
        <p:spPr>
          <a:xfrm>
            <a:off x="1115568" y="1508760"/>
            <a:ext cx="548640" cy="548640"/>
          </a:xfrm>
          <a:prstGeom prst="ellipse">
            <a:avLst/>
          </a:prstGeom>
          <a:solidFill>
            <a:schemeClr val="accent1"/>
          </a:solidFill>
          <a:ln/>
        </p:spPr>
      </p:sp>
      <p:pic>
        <p:nvPicPr>
          <p:cNvPr id="5" name="Web page icon" descr="Web page">    </p:cNvPr>
          <p:cNvPicPr>
            <a:picLocks noChangeAspect="1"/>
          </p:cNvPicPr>
          <p:nvPr/>
        </p:nvPicPr>
        <p:blipFill>
          <a:blip r:embed="rId1"/>
          <a:stretch>
            <a:fillRect/>
          </a:stretch>
        </p:blipFill>
        <p:spPr>
          <a:xfrm>
            <a:off x="1263701" y="1656893"/>
            <a:ext cx="252374" cy="252374"/>
          </a:xfrm>
          <a:prstGeom prst="rect">
            <a:avLst/>
          </a:prstGeom>
        </p:spPr>
      </p:pic>
      <p:sp>
        <p:nvSpPr>
          <p:cNvPr id="6" name="Text 3"/>
          <p:cNvSpPr txBox="1"/>
          <p:nvPr/>
        </p:nvSpPr>
        <p:spPr>
          <a:xfrm>
            <a:off x="548640" y="2148840"/>
            <a:ext cx="1691640" cy="320040"/>
          </a:xfrm>
          <a:prstGeom prst="rect">
            <a:avLst/>
          </a:prstGeom>
          <a:noFill/>
          <a:ln/>
        </p:spPr>
        <p:txBody>
          <a:bodyPr wrap="square" lIns="0" tIns="0" rIns="0" bIns="0" rtlCol="0" anchor="t"/>
          <a:lstStyle/>
          <a:p>
            <a:pPr algn="ctr" indent="0" marL="0">
              <a:buNone/>
            </a:pPr>
            <a:r>
              <a:rPr lang="en-US" sz="1600" b="1" dirty="0">
                <a:solidFill>
                  <a:schemeClr val="tx1"/>
                </a:solidFill>
              </a:rPr>
              <a:t>Web page</a:t>
            </a:r>
            <a:endParaRPr lang="en-US" sz="1600" dirty="0"/>
          </a:p>
        </p:txBody>
      </p:sp>
      <p:sp>
        <p:nvSpPr>
          <p:cNvPr id="7" name="Text 4"/>
          <p:cNvSpPr txBox="1"/>
          <p:nvPr/>
        </p:nvSpPr>
        <p:spPr>
          <a:xfrm>
            <a:off x="548640" y="2487168"/>
            <a:ext cx="1691640" cy="640080"/>
          </a:xfrm>
          <a:prstGeom prst="rect">
            <a:avLst/>
          </a:prstGeom>
          <a:noFill/>
          <a:ln/>
        </p:spPr>
        <p:txBody>
          <a:bodyPr wrap="square" lIns="0" tIns="0" rIns="0" bIns="0" rtlCol="0" anchor="t"/>
          <a:lstStyle/>
          <a:p>
            <a:pPr algn="ctr" indent="0" marL="0">
              <a:buNone/>
            </a:pPr>
            <a:r>
              <a:rPr lang="en-US" sz="1300" dirty="0">
                <a:solidFill>
                  <a:schemeClr val="tx2"/>
                </a:solidFill>
              </a:rPr>
              <a:t>Marketer enters email details</a:t>
            </a:r>
            <a:endParaRPr lang="en-US" sz="1300" dirty="0"/>
          </a:p>
        </p:txBody>
      </p:sp>
      <p:sp>
        <p:nvSpPr>
          <p:cNvPr id="8" name="Flow arrow 1"/>
          <p:cNvSpPr/>
          <p:nvPr/>
        </p:nvSpPr>
        <p:spPr>
          <a:xfrm>
            <a:off x="2359152" y="2286000"/>
            <a:ext cx="219456" cy="0"/>
          </a:xfrm>
          <a:prstGeom prst="line">
            <a:avLst/>
          </a:prstGeom>
          <a:noFill/>
          <a:ln w="25400">
            <a:solidFill>
              <a:schemeClr val="accent3"/>
            </a:solidFill>
            <a:prstDash val="solid"/>
            <a:tailEnd type="triangle"/>
          </a:ln>
        </p:spPr>
      </p:sp>
      <p:sp>
        <p:nvSpPr>
          <p:cNvPr id="9" name="Vercel card"/>
          <p:cNvSpPr/>
          <p:nvPr/>
        </p:nvSpPr>
        <p:spPr>
          <a:xfrm>
            <a:off x="2606040" y="1325880"/>
            <a:ext cx="1874520" cy="1920240"/>
          </a:xfrm>
          <a:prstGeom prst="roundRect">
            <a:avLst>
              <a:gd name="adj" fmla="val 3902"/>
            </a:avLst>
          </a:prstGeom>
          <a:solidFill>
            <a:schemeClr val="bg2"/>
          </a:solidFill>
          <a:ln/>
        </p:spPr>
      </p:sp>
      <p:sp>
        <p:nvSpPr>
          <p:cNvPr id="10" name="Vercel circle"/>
          <p:cNvSpPr/>
          <p:nvPr/>
        </p:nvSpPr>
        <p:spPr>
          <a:xfrm>
            <a:off x="3264408" y="1508760"/>
            <a:ext cx="548640" cy="548640"/>
          </a:xfrm>
          <a:prstGeom prst="ellipse">
            <a:avLst/>
          </a:prstGeom>
          <a:solidFill>
            <a:schemeClr val="accent1"/>
          </a:solidFill>
          <a:ln/>
        </p:spPr>
      </p:sp>
      <p:pic>
        <p:nvPicPr>
          <p:cNvPr id="11" name="Vercel icon" descr="Vercel">    </p:cNvPr>
          <p:cNvPicPr>
            <a:picLocks noChangeAspect="1"/>
          </p:cNvPicPr>
          <p:nvPr/>
        </p:nvPicPr>
        <p:blipFill>
          <a:blip r:embed="rId2"/>
          <a:stretch>
            <a:fillRect/>
          </a:stretch>
        </p:blipFill>
        <p:spPr>
          <a:xfrm>
            <a:off x="3412541" y="1656893"/>
            <a:ext cx="252374" cy="252374"/>
          </a:xfrm>
          <a:prstGeom prst="rect">
            <a:avLst/>
          </a:prstGeom>
        </p:spPr>
      </p:pic>
      <p:sp>
        <p:nvSpPr>
          <p:cNvPr id="12" name="Text 8"/>
          <p:cNvSpPr txBox="1"/>
          <p:nvPr/>
        </p:nvSpPr>
        <p:spPr>
          <a:xfrm>
            <a:off x="2697480" y="2148840"/>
            <a:ext cx="1691640" cy="320040"/>
          </a:xfrm>
          <a:prstGeom prst="rect">
            <a:avLst/>
          </a:prstGeom>
          <a:noFill/>
          <a:ln/>
        </p:spPr>
        <p:txBody>
          <a:bodyPr wrap="square" lIns="0" tIns="0" rIns="0" bIns="0" rtlCol="0" anchor="t"/>
          <a:lstStyle/>
          <a:p>
            <a:pPr algn="ctr" indent="0" marL="0">
              <a:buNone/>
            </a:pPr>
            <a:r>
              <a:rPr lang="en-US" sz="1600" b="1" dirty="0">
                <a:solidFill>
                  <a:schemeClr val="tx1"/>
                </a:solidFill>
              </a:rPr>
              <a:t>Vercel</a:t>
            </a:r>
            <a:endParaRPr lang="en-US" sz="1600" dirty="0"/>
          </a:p>
        </p:txBody>
      </p:sp>
      <p:sp>
        <p:nvSpPr>
          <p:cNvPr id="13" name="Text 9"/>
          <p:cNvSpPr txBox="1"/>
          <p:nvPr/>
        </p:nvSpPr>
        <p:spPr>
          <a:xfrm>
            <a:off x="2697480" y="2487168"/>
            <a:ext cx="1691640" cy="640080"/>
          </a:xfrm>
          <a:prstGeom prst="rect">
            <a:avLst/>
          </a:prstGeom>
          <a:noFill/>
          <a:ln/>
        </p:spPr>
        <p:txBody>
          <a:bodyPr wrap="square" lIns="0" tIns="0" rIns="0" bIns="0" rtlCol="0" anchor="t"/>
          <a:lstStyle/>
          <a:p>
            <a:pPr algn="ctr" indent="0" marL="0">
              <a:buNone/>
            </a:pPr>
            <a:r>
              <a:rPr lang="en-US" sz="1300" dirty="0">
                <a:solidFill>
                  <a:schemeClr val="tx2"/>
                </a:solidFill>
              </a:rPr>
              <a:t>Hosts the app, serverless</a:t>
            </a:r>
            <a:endParaRPr lang="en-US" sz="1300" dirty="0"/>
          </a:p>
        </p:txBody>
      </p:sp>
      <p:sp>
        <p:nvSpPr>
          <p:cNvPr id="14" name="Flow arrow 2"/>
          <p:cNvSpPr/>
          <p:nvPr/>
        </p:nvSpPr>
        <p:spPr>
          <a:xfrm>
            <a:off x="4507992" y="2286000"/>
            <a:ext cx="219456" cy="0"/>
          </a:xfrm>
          <a:prstGeom prst="line">
            <a:avLst/>
          </a:prstGeom>
          <a:noFill/>
          <a:ln w="25400">
            <a:solidFill>
              <a:schemeClr val="accent3"/>
            </a:solidFill>
            <a:prstDash val="solid"/>
            <a:tailEnd type="triangle"/>
          </a:ln>
        </p:spPr>
      </p:sp>
      <p:sp>
        <p:nvSpPr>
          <p:cNvPr id="15" name="Flask API card"/>
          <p:cNvSpPr/>
          <p:nvPr/>
        </p:nvSpPr>
        <p:spPr>
          <a:xfrm>
            <a:off x="4754880" y="1325880"/>
            <a:ext cx="1874520" cy="1920240"/>
          </a:xfrm>
          <a:prstGeom prst="roundRect">
            <a:avLst>
              <a:gd name="adj" fmla="val 3902"/>
            </a:avLst>
          </a:prstGeom>
          <a:solidFill>
            <a:schemeClr val="bg2"/>
          </a:solidFill>
          <a:ln/>
        </p:spPr>
      </p:sp>
      <p:sp>
        <p:nvSpPr>
          <p:cNvPr id="16" name="Flask API circle"/>
          <p:cNvSpPr/>
          <p:nvPr/>
        </p:nvSpPr>
        <p:spPr>
          <a:xfrm>
            <a:off x="5413248" y="1508760"/>
            <a:ext cx="548640" cy="548640"/>
          </a:xfrm>
          <a:prstGeom prst="ellipse">
            <a:avLst/>
          </a:prstGeom>
          <a:solidFill>
            <a:schemeClr val="accent1"/>
          </a:solidFill>
          <a:ln/>
        </p:spPr>
      </p:sp>
      <p:pic>
        <p:nvPicPr>
          <p:cNvPr id="17" name="Flask API icon" descr="Flask API">    </p:cNvPr>
          <p:cNvPicPr>
            <a:picLocks noChangeAspect="1"/>
          </p:cNvPicPr>
          <p:nvPr/>
        </p:nvPicPr>
        <p:blipFill>
          <a:blip r:embed="rId3"/>
          <a:stretch>
            <a:fillRect/>
          </a:stretch>
        </p:blipFill>
        <p:spPr>
          <a:xfrm>
            <a:off x="5561381" y="1656893"/>
            <a:ext cx="252374" cy="252374"/>
          </a:xfrm>
          <a:prstGeom prst="rect">
            <a:avLst/>
          </a:prstGeom>
        </p:spPr>
      </p:pic>
      <p:sp>
        <p:nvSpPr>
          <p:cNvPr id="18" name="Text 13"/>
          <p:cNvSpPr txBox="1"/>
          <p:nvPr/>
        </p:nvSpPr>
        <p:spPr>
          <a:xfrm>
            <a:off x="4846320" y="2148840"/>
            <a:ext cx="1691640" cy="320040"/>
          </a:xfrm>
          <a:prstGeom prst="rect">
            <a:avLst/>
          </a:prstGeom>
          <a:noFill/>
          <a:ln/>
        </p:spPr>
        <p:txBody>
          <a:bodyPr wrap="square" lIns="0" tIns="0" rIns="0" bIns="0" rtlCol="0" anchor="t"/>
          <a:lstStyle/>
          <a:p>
            <a:pPr algn="ctr" indent="0" marL="0">
              <a:buNone/>
            </a:pPr>
            <a:r>
              <a:rPr lang="en-US" sz="1600" b="1" dirty="0">
                <a:solidFill>
                  <a:schemeClr val="tx1"/>
                </a:solidFill>
              </a:rPr>
              <a:t>Flask API</a:t>
            </a:r>
            <a:endParaRPr lang="en-US" sz="1600" dirty="0"/>
          </a:p>
        </p:txBody>
      </p:sp>
      <p:sp>
        <p:nvSpPr>
          <p:cNvPr id="19" name="Text 14"/>
          <p:cNvSpPr txBox="1"/>
          <p:nvPr/>
        </p:nvSpPr>
        <p:spPr>
          <a:xfrm>
            <a:off x="4846320" y="2487168"/>
            <a:ext cx="1691640" cy="640080"/>
          </a:xfrm>
          <a:prstGeom prst="rect">
            <a:avLst/>
          </a:prstGeom>
          <a:noFill/>
          <a:ln/>
        </p:spPr>
        <p:txBody>
          <a:bodyPr wrap="square" lIns="0" tIns="0" rIns="0" bIns="0" rtlCol="0" anchor="t"/>
          <a:lstStyle/>
          <a:p>
            <a:pPr algn="ctr" indent="0" marL="0">
              <a:buNone/>
            </a:pPr>
            <a:r>
              <a:rPr lang="en-US" sz="1300" dirty="0">
                <a:solidFill>
                  <a:schemeClr val="tx2"/>
                </a:solidFill>
              </a:rPr>
              <a:t>/api/predict cleans the inputs</a:t>
            </a:r>
            <a:endParaRPr lang="en-US" sz="1300" dirty="0"/>
          </a:p>
        </p:txBody>
      </p:sp>
      <p:sp>
        <p:nvSpPr>
          <p:cNvPr id="20" name="Flow arrow 3"/>
          <p:cNvSpPr/>
          <p:nvPr/>
        </p:nvSpPr>
        <p:spPr>
          <a:xfrm>
            <a:off x="6656832" y="2286000"/>
            <a:ext cx="219456" cy="0"/>
          </a:xfrm>
          <a:prstGeom prst="line">
            <a:avLst/>
          </a:prstGeom>
          <a:noFill/>
          <a:ln w="25400">
            <a:solidFill>
              <a:schemeClr val="accent3"/>
            </a:solidFill>
            <a:prstDash val="solid"/>
            <a:tailEnd type="triangle"/>
          </a:ln>
        </p:spPr>
      </p:sp>
      <p:sp>
        <p:nvSpPr>
          <p:cNvPr id="21" name="Random Forest card"/>
          <p:cNvSpPr/>
          <p:nvPr/>
        </p:nvSpPr>
        <p:spPr>
          <a:xfrm>
            <a:off x="6903720" y="1325880"/>
            <a:ext cx="1874520" cy="1920240"/>
          </a:xfrm>
          <a:prstGeom prst="roundRect">
            <a:avLst>
              <a:gd name="adj" fmla="val 3902"/>
            </a:avLst>
          </a:prstGeom>
          <a:solidFill>
            <a:schemeClr val="bg2"/>
          </a:solidFill>
          <a:ln/>
        </p:spPr>
      </p:sp>
      <p:sp>
        <p:nvSpPr>
          <p:cNvPr id="22" name="Random Forest circle"/>
          <p:cNvSpPr/>
          <p:nvPr/>
        </p:nvSpPr>
        <p:spPr>
          <a:xfrm>
            <a:off x="7562088" y="1508760"/>
            <a:ext cx="548640" cy="548640"/>
          </a:xfrm>
          <a:prstGeom prst="ellipse">
            <a:avLst/>
          </a:prstGeom>
          <a:solidFill>
            <a:schemeClr val="accent1"/>
          </a:solidFill>
          <a:ln/>
        </p:spPr>
      </p:sp>
      <p:pic>
        <p:nvPicPr>
          <p:cNvPr id="23" name="Random Forest icon" descr="Random Forest">    </p:cNvPr>
          <p:cNvPicPr>
            <a:picLocks noChangeAspect="1"/>
          </p:cNvPicPr>
          <p:nvPr/>
        </p:nvPicPr>
        <p:blipFill>
          <a:blip r:embed="rId4"/>
          <a:stretch>
            <a:fillRect/>
          </a:stretch>
        </p:blipFill>
        <p:spPr>
          <a:xfrm>
            <a:off x="7710221" y="1656893"/>
            <a:ext cx="252374" cy="252374"/>
          </a:xfrm>
          <a:prstGeom prst="rect">
            <a:avLst/>
          </a:prstGeom>
        </p:spPr>
      </p:pic>
      <p:sp>
        <p:nvSpPr>
          <p:cNvPr id="24" name="Text 18"/>
          <p:cNvSpPr txBox="1"/>
          <p:nvPr/>
        </p:nvSpPr>
        <p:spPr>
          <a:xfrm>
            <a:off x="6995160" y="2148840"/>
            <a:ext cx="1691640" cy="320040"/>
          </a:xfrm>
          <a:prstGeom prst="rect">
            <a:avLst/>
          </a:prstGeom>
          <a:noFill/>
          <a:ln/>
        </p:spPr>
        <p:txBody>
          <a:bodyPr wrap="square" lIns="0" tIns="0" rIns="0" bIns="0" rtlCol="0" anchor="t"/>
          <a:lstStyle/>
          <a:p>
            <a:pPr algn="ctr" indent="0" marL="0">
              <a:buNone/>
            </a:pPr>
            <a:r>
              <a:rPr lang="en-US" sz="1600" b="1" dirty="0">
                <a:solidFill>
                  <a:schemeClr val="tx1"/>
                </a:solidFill>
              </a:rPr>
              <a:t>Random Forest</a:t>
            </a:r>
            <a:endParaRPr lang="en-US" sz="1600" dirty="0"/>
          </a:p>
        </p:txBody>
      </p:sp>
      <p:sp>
        <p:nvSpPr>
          <p:cNvPr id="25" name="Text 19"/>
          <p:cNvSpPr txBox="1"/>
          <p:nvPr/>
        </p:nvSpPr>
        <p:spPr>
          <a:xfrm>
            <a:off x="6995160" y="2487168"/>
            <a:ext cx="1691640" cy="640080"/>
          </a:xfrm>
          <a:prstGeom prst="rect">
            <a:avLst/>
          </a:prstGeom>
          <a:noFill/>
          <a:ln/>
        </p:spPr>
        <p:txBody>
          <a:bodyPr wrap="square" lIns="0" tIns="0" rIns="0" bIns="0" rtlCol="0" anchor="t"/>
          <a:lstStyle/>
          <a:p>
            <a:pPr algn="ctr" indent="0" marL="0">
              <a:buNone/>
            </a:pPr>
            <a:r>
              <a:rPr lang="en-US" sz="1300" dirty="0">
                <a:solidFill>
                  <a:schemeClr val="tx2"/>
                </a:solidFill>
              </a:rPr>
              <a:t>Returns outcome and scores</a:t>
            </a:r>
            <a:endParaRPr lang="en-US" sz="1300" dirty="0"/>
          </a:p>
        </p:txBody>
      </p:sp>
      <p:sp>
        <p:nvSpPr>
          <p:cNvPr id="26" name="Demo link card"/>
          <p:cNvSpPr/>
          <p:nvPr/>
        </p:nvSpPr>
        <p:spPr>
          <a:xfrm>
            <a:off x="457200" y="3520440"/>
            <a:ext cx="8229600" cy="914400"/>
          </a:xfrm>
          <a:prstGeom prst="roundRect">
            <a:avLst>
              <a:gd name="adj" fmla="val 8000"/>
            </a:avLst>
          </a:prstGeom>
          <a:solidFill>
            <a:schemeClr val="tx1"/>
          </a:solidFill>
          <a:ln/>
        </p:spPr>
      </p:sp>
      <p:sp>
        <p:nvSpPr>
          <p:cNvPr id="27" name="Live demo circle"/>
          <p:cNvSpPr/>
          <p:nvPr/>
        </p:nvSpPr>
        <p:spPr>
          <a:xfrm>
            <a:off x="685800" y="3703320"/>
            <a:ext cx="548640" cy="548640"/>
          </a:xfrm>
          <a:prstGeom prst="ellipse">
            <a:avLst/>
          </a:prstGeom>
          <a:solidFill>
            <a:schemeClr val="accent2"/>
          </a:solidFill>
          <a:ln/>
        </p:spPr>
      </p:sp>
      <p:pic>
        <p:nvPicPr>
          <p:cNvPr id="28" name="Live demo icon" descr="Live demo">    </p:cNvPr>
          <p:cNvPicPr>
            <a:picLocks noChangeAspect="1"/>
          </p:cNvPicPr>
          <p:nvPr/>
        </p:nvPicPr>
        <p:blipFill>
          <a:blip r:embed="rId5"/>
          <a:stretch>
            <a:fillRect/>
          </a:stretch>
        </p:blipFill>
        <p:spPr>
          <a:xfrm>
            <a:off x="833933" y="3851453"/>
            <a:ext cx="252374" cy="252374"/>
          </a:xfrm>
          <a:prstGeom prst="rect">
            <a:avLst/>
          </a:prstGeom>
        </p:spPr>
      </p:pic>
      <p:sp>
        <p:nvSpPr>
          <p:cNvPr id="29" name="Text 22"/>
          <p:cNvSpPr txBox="1"/>
          <p:nvPr/>
        </p:nvSpPr>
        <p:spPr>
          <a:xfrm>
            <a:off x="1417320" y="3611880"/>
            <a:ext cx="7040880" cy="731520"/>
          </a:xfrm>
          <a:prstGeom prst="rect">
            <a:avLst/>
          </a:prstGeom>
          <a:noFill/>
          <a:ln/>
        </p:spPr>
        <p:txBody>
          <a:bodyPr wrap="square" lIns="0" tIns="0" rIns="0" bIns="0" rtlCol="0" anchor="ctr"/>
          <a:lstStyle/>
          <a:p>
            <a:pPr indent="0" marL="0">
              <a:buNone/>
            </a:pPr>
            <a:r>
              <a:rPr lang="en-US" sz="1500" b="1" dirty="0">
                <a:solidFill>
                  <a:schemeClr val="bg1"/>
                </a:solidFill>
              </a:rPr>
              <a:t>Live demo</a:t>
            </a:r>
            <a:endParaRPr lang="en-US" sz="1500" dirty="0"/>
          </a:p>
          <a:p>
            <a:pPr indent="0" marL="0">
              <a:buNone/>
            </a:pPr>
            <a:r>
              <a:rPr lang="en-US" sz="1500" dirty="0">
                <a:solidFill>
                  <a:schemeClr val="accent5"/>
                </a:solidFill>
              </a:rPr>
              <a:t>Add your Vercel link here after deploying</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200" b="1" dirty="0">
                <a:solidFill>
                  <a:schemeClr val="bg1"/>
                </a:solidFill>
              </a:rPr>
              <a:t>Limitations and next steps</a:t>
            </a:r>
            <a:endParaRPr lang="en-US" sz="3200" dirty="0"/>
          </a:p>
        </p:txBody>
      </p:sp>
      <p:sp>
        <p:nvSpPr>
          <p:cNvPr id="3" name="Limitations circle"/>
          <p:cNvSpPr/>
          <p:nvPr/>
        </p:nvSpPr>
        <p:spPr>
          <a:xfrm>
            <a:off x="457200" y="1234440"/>
            <a:ext cx="548640" cy="548640"/>
          </a:xfrm>
          <a:prstGeom prst="ellipse">
            <a:avLst/>
          </a:prstGeom>
          <a:solidFill>
            <a:schemeClr val="accent2"/>
          </a:solidFill>
          <a:ln/>
        </p:spPr>
      </p:sp>
      <p:pic>
        <p:nvPicPr>
          <p:cNvPr id="4" name="Limitations icon" descr="Limitations">    </p:cNvPr>
          <p:cNvPicPr>
            <a:picLocks noChangeAspect="1"/>
          </p:cNvPicPr>
          <p:nvPr/>
        </p:nvPicPr>
        <p:blipFill>
          <a:blip r:embed="rId1"/>
          <a:stretch>
            <a:fillRect/>
          </a:stretch>
        </p:blipFill>
        <p:spPr>
          <a:xfrm>
            <a:off x="605333" y="1382573"/>
            <a:ext cx="252374" cy="252374"/>
          </a:xfrm>
          <a:prstGeom prst="rect">
            <a:avLst/>
          </a:prstGeom>
        </p:spPr>
      </p:pic>
      <p:sp>
        <p:nvSpPr>
          <p:cNvPr id="5" name="Text 2"/>
          <p:cNvSpPr txBox="1"/>
          <p:nvPr/>
        </p:nvSpPr>
        <p:spPr>
          <a:xfrm>
            <a:off x="1188720" y="1325880"/>
            <a:ext cx="3108960" cy="365760"/>
          </a:xfrm>
          <a:prstGeom prst="rect">
            <a:avLst/>
          </a:prstGeom>
          <a:noFill/>
          <a:ln/>
        </p:spPr>
        <p:txBody>
          <a:bodyPr wrap="square" lIns="0" tIns="0" rIns="0" bIns="0" rtlCol="0" anchor="t"/>
          <a:lstStyle/>
          <a:p>
            <a:pPr indent="0" marL="0">
              <a:buNone/>
            </a:pPr>
            <a:r>
              <a:rPr lang="en-US" sz="2000" b="1" dirty="0">
                <a:solidFill>
                  <a:schemeClr val="bg1"/>
                </a:solidFill>
              </a:rPr>
              <a:t>Limitations</a:t>
            </a:r>
            <a:endParaRPr lang="en-US" sz="2000" dirty="0"/>
          </a:p>
        </p:txBody>
      </p:sp>
      <p:sp>
        <p:nvSpPr>
          <p:cNvPr id="6" name="Text 3"/>
          <p:cNvSpPr txBox="1"/>
          <p:nvPr/>
        </p:nvSpPr>
        <p:spPr>
          <a:xfrm>
            <a:off x="457200" y="1965960"/>
            <a:ext cx="38404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Moderate macro F1 (0.45): the features carry limited signal</a:t>
            </a:r>
            <a:endParaRPr lang="en-US" sz="1500" dirty="0"/>
          </a:p>
          <a:p>
            <a:pPr marL="342900" indent="-342900">
              <a:spcAft>
                <a:spcPts val="800"/>
              </a:spcAft>
              <a:buSzPct val="100000"/>
              <a:buChar char="•"/>
            </a:pPr>
            <a:r>
              <a:rPr lang="en-US" sz="1500" dirty="0">
                <a:solidFill>
                  <a:schemeClr val="bg2"/>
                </a:solidFill>
              </a:rPr>
              <a:t>Categories are anonymised, so insights are hard to act on</a:t>
            </a:r>
            <a:endParaRPr lang="en-US" sz="1500" dirty="0"/>
          </a:p>
          <a:p>
            <a:pPr marL="342900" indent="-342900">
              <a:spcAft>
                <a:spcPts val="800"/>
              </a:spcAft>
              <a:buSzPct val="100000"/>
              <a:buChar char="•"/>
            </a:pPr>
            <a:r>
              <a:rPr lang="en-US" sz="1500" dirty="0">
                <a:solidFill>
                  <a:schemeClr val="bg2"/>
                </a:solidFill>
              </a:rPr>
              <a:t>Campaign type 1 has only 736 emails</a:t>
            </a:r>
            <a:endParaRPr lang="en-US" sz="1500" dirty="0"/>
          </a:p>
        </p:txBody>
      </p:sp>
      <p:sp>
        <p:nvSpPr>
          <p:cNvPr id="7" name="Next steps circle"/>
          <p:cNvSpPr/>
          <p:nvPr/>
        </p:nvSpPr>
        <p:spPr>
          <a:xfrm>
            <a:off x="4663440" y="1234440"/>
            <a:ext cx="548640" cy="548640"/>
          </a:xfrm>
          <a:prstGeom prst="ellipse">
            <a:avLst/>
          </a:prstGeom>
          <a:solidFill>
            <a:schemeClr val="accent1"/>
          </a:solidFill>
          <a:ln/>
        </p:spPr>
      </p:sp>
      <p:pic>
        <p:nvPicPr>
          <p:cNvPr id="8" name="Next steps icon" descr="Next steps">    </p:cNvPr>
          <p:cNvPicPr>
            <a:picLocks noChangeAspect="1"/>
          </p:cNvPicPr>
          <p:nvPr/>
        </p:nvPicPr>
        <p:blipFill>
          <a:blip r:embed="rId2"/>
          <a:stretch>
            <a:fillRect/>
          </a:stretch>
        </p:blipFill>
        <p:spPr>
          <a:xfrm>
            <a:off x="4811573" y="1382573"/>
            <a:ext cx="252374" cy="252374"/>
          </a:xfrm>
          <a:prstGeom prst="rect">
            <a:avLst/>
          </a:prstGeom>
        </p:spPr>
      </p:pic>
      <p:sp>
        <p:nvSpPr>
          <p:cNvPr id="9" name="Text 5"/>
          <p:cNvSpPr txBox="1"/>
          <p:nvPr/>
        </p:nvSpPr>
        <p:spPr>
          <a:xfrm>
            <a:off x="5394960" y="1325880"/>
            <a:ext cx="3108960" cy="365760"/>
          </a:xfrm>
          <a:prstGeom prst="rect">
            <a:avLst/>
          </a:prstGeom>
          <a:noFill/>
          <a:ln/>
        </p:spPr>
        <p:txBody>
          <a:bodyPr wrap="square" lIns="0" tIns="0" rIns="0" bIns="0" rtlCol="0" anchor="t"/>
          <a:lstStyle/>
          <a:p>
            <a:pPr indent="0" marL="0">
              <a:buNone/>
            </a:pPr>
            <a:r>
              <a:rPr lang="en-US" sz="2000" b="1" dirty="0">
                <a:solidFill>
                  <a:schemeClr val="bg1"/>
                </a:solidFill>
              </a:rPr>
              <a:t>Next steps</a:t>
            </a:r>
            <a:endParaRPr lang="en-US" sz="2000" dirty="0"/>
          </a:p>
        </p:txBody>
      </p:sp>
      <p:sp>
        <p:nvSpPr>
          <p:cNvPr id="10" name="Text 6"/>
          <p:cNvSpPr txBox="1"/>
          <p:nvPr/>
        </p:nvSpPr>
        <p:spPr>
          <a:xfrm>
            <a:off x="4663440" y="1965960"/>
            <a:ext cx="38404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Add richer data: industry, open history, subject text</a:t>
            </a:r>
            <a:endParaRPr lang="en-US" sz="1500" dirty="0"/>
          </a:p>
          <a:p>
            <a:pPr marL="342900" indent="-342900">
              <a:spcAft>
                <a:spcPts val="800"/>
              </a:spcAft>
              <a:buSzPct val="100000"/>
              <a:buChar char="•"/>
            </a:pPr>
            <a:r>
              <a:rPr lang="en-US" sz="1500" dirty="0">
                <a:solidFill>
                  <a:schemeClr val="bg2"/>
                </a:solidFill>
              </a:rPr>
              <a:t>Tune decision thresholds for the rare classes</a:t>
            </a:r>
            <a:endParaRPr lang="en-US" sz="1500" dirty="0"/>
          </a:p>
          <a:p>
            <a:pPr marL="342900" indent="-342900">
              <a:spcAft>
                <a:spcPts val="800"/>
              </a:spcAft>
              <a:buSzPct val="100000"/>
              <a:buChar char="•"/>
            </a:pPr>
            <a:r>
              <a:rPr lang="en-US" sz="1500" dirty="0">
                <a:solidFill>
                  <a:schemeClr val="bg2"/>
                </a:solidFill>
              </a:rPr>
              <a:t>Validate the recommendations with A/B tests</a:t>
            </a:r>
            <a:endParaRPr lang="en-US" sz="1500" dirty="0"/>
          </a:p>
        </p:txBody>
      </p:sp>
      <p:sp>
        <p:nvSpPr>
          <p:cNvPr id="11" name="Text 7"/>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2200" b="1" dirty="0">
                <a:solidFill>
                  <a:schemeClr val="accent5"/>
                </a:solidFill>
                <a:latin typeface="Cambria" pitchFamily="34" charset="0"/>
                <a:ea typeface="Cambria" pitchFamily="34" charset="-122"/>
                <a:cs typeface="Cambria" pitchFamily="34" charset="-120"/>
              </a:rPr>
              <a:t>Thank you · Questions?</a:t>
            </a:r>
            <a:endParaRPr lang="en-US" sz="2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InspireDirect Teal">
  <a:themeElements>
    <a:clrScheme name="InspireDirect Teal">
      <a:dk1>
        <a:srgbClr val="18242B"/>
      </a:dk1>
      <a:lt1>
        <a:srgbClr val="FFFFFF"/>
      </a:lt1>
      <a:dk2>
        <a:srgbClr val="5B6A72"/>
      </a:dk2>
      <a:lt2>
        <a:srgbClr val="EEF3F1"/>
      </a:lt2>
      <a:accent1>
        <a:srgbClr val="2F7F6F"/>
      </a:accent1>
      <a:accent2>
        <a:srgbClr val="E0A030"/>
      </a:accent2>
      <a:accent3>
        <a:srgbClr val="9AA5B1"/>
      </a:accent3>
      <a:accent4>
        <a:srgbClr val="1F5A4F"/>
      </a:accent4>
      <a:accent5>
        <a:srgbClr val="8CC7B8"/>
      </a:accent5>
      <a:accent6>
        <a:srgbClr val="D9E1DF"/>
      </a:accent6>
      <a:hlink>
        <a:srgbClr val="2F7F6F"/>
      </a:hlink>
      <a:folHlink>
        <a:srgbClr val="1F5A4F"/>
      </a:folHlink>
    </a:clrScheme>
    <a:fontScheme name="InspireDirec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Email Campaign Effectiveness</dc:title>
  <dc:subject>PptxGenJS Presentation</dc:subject>
  <dc:creator>Capstone project</dc:creator>
  <cp:lastModifiedBy>Capstone project</cp:lastModifiedBy>
  <cp:revision>1</cp:revision>
  <dcterms:created xsi:type="dcterms:W3CDTF">2026-10-26T20:20:32Z</dcterms:created>
  <dcterms:modified xsi:type="dcterms:W3CDTF">2026-10-26T20:20:32Z</dcterms:modified>
</cp:coreProperties>
</file>